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2" orient="horz" pos="1026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h4JOjnoL7UhH5YofoLrwlPuz00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7B7B"/>
    <a:srgbClr val="080808"/>
    <a:srgbClr val="D3D3D3"/>
    <a:srgbClr val="595959"/>
    <a:srgbClr val="649AA2"/>
    <a:srgbClr val="38848F"/>
    <a:srgbClr val="3780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7090" autoAdjust="0"/>
  </p:normalViewPr>
  <p:slideViewPr>
    <p:cSldViewPr snapToGrid="0">
      <p:cViewPr varScale="1">
        <p:scale>
          <a:sx n="131" d="100"/>
          <a:sy n="131" d="100"/>
        </p:scale>
        <p:origin x="101" y="307"/>
      </p:cViewPr>
      <p:guideLst>
        <p:guide orient="horz" pos="4065"/>
        <p:guide orient="horz" pos="102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Вводный слайд. Тема — как единообразно разрабатывать инструменты (плагины) PyRevit в нашей корпоративной среде. Аудитория — BIM-специалисты без опыта программирования и работы с ИИ. Цель встречи: показать, как настроить среду и работать по этапам, не боясь кода.</a:t>
            </a: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Начнём с общей картины.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карта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lang="ru-RU" dirty="0"/>
              <a:t> </a:t>
            </a:r>
            <a:r>
              <a:rPr dirty="0"/>
              <a:t>—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состоит</a:t>
            </a:r>
            <a:r>
              <a:rPr dirty="0"/>
              <a:t> </a:t>
            </a:r>
            <a:r>
              <a:rPr dirty="0" err="1"/>
              <a:t>наша</a:t>
            </a:r>
            <a:r>
              <a:rPr dirty="0"/>
              <a:t> </a:t>
            </a:r>
            <a:r>
              <a:rPr dirty="0" err="1"/>
              <a:t>среда</a:t>
            </a:r>
            <a:r>
              <a:rPr dirty="0"/>
              <a:t>. </a:t>
            </a:r>
            <a:r>
              <a:rPr dirty="0" err="1"/>
              <a:t>Репозиторий</a:t>
            </a:r>
            <a:r>
              <a:rPr dirty="0"/>
              <a:t> с </a:t>
            </a:r>
            <a:r>
              <a:rPr dirty="0" err="1"/>
              <a:t>кодом</a:t>
            </a:r>
            <a:r>
              <a:rPr dirty="0"/>
              <a:t> </a:t>
            </a:r>
            <a:r>
              <a:rPr dirty="0" err="1"/>
              <a:t>лежит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GitHub. GSD — «</a:t>
            </a:r>
            <a:r>
              <a:rPr dirty="0" err="1"/>
              <a:t>мозг</a:t>
            </a:r>
            <a:r>
              <a:rPr dirty="0"/>
              <a:t>» </a:t>
            </a:r>
            <a:r>
              <a:rPr dirty="0" err="1"/>
              <a:t>планирования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базе</a:t>
            </a:r>
            <a:r>
              <a:rPr dirty="0"/>
              <a:t> Claude. </a:t>
            </a:r>
            <a:r>
              <a:rPr dirty="0" err="1"/>
              <a:t>Карта</a:t>
            </a:r>
            <a:r>
              <a:rPr dirty="0"/>
              <a:t> </a:t>
            </a:r>
            <a:r>
              <a:rPr dirty="0" err="1"/>
              <a:t>релизов</a:t>
            </a:r>
            <a:r>
              <a:rPr dirty="0"/>
              <a:t> — </a:t>
            </a:r>
            <a:r>
              <a:rPr dirty="0" err="1"/>
              <a:t>главный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заданий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импортируется</a:t>
            </a:r>
            <a:r>
              <a:rPr dirty="0"/>
              <a:t> в GSD. </a:t>
            </a:r>
            <a:r>
              <a:rPr dirty="0" err="1"/>
              <a:t>Graphify</a:t>
            </a:r>
            <a:r>
              <a:rPr dirty="0"/>
              <a:t> </a:t>
            </a:r>
            <a:r>
              <a:rPr dirty="0" err="1"/>
              <a:t>строит</a:t>
            </a:r>
            <a:r>
              <a:rPr dirty="0"/>
              <a:t> </a:t>
            </a:r>
            <a:r>
              <a:rPr dirty="0" err="1"/>
              <a:t>граф</a:t>
            </a:r>
            <a:r>
              <a:rPr dirty="0"/>
              <a:t> </a:t>
            </a:r>
            <a:r>
              <a:rPr dirty="0" err="1"/>
              <a:t>кода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отвечать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вопросы</a:t>
            </a:r>
            <a:r>
              <a:rPr dirty="0"/>
              <a:t> </a:t>
            </a:r>
            <a:r>
              <a:rPr dirty="0" err="1"/>
              <a:t>об</a:t>
            </a:r>
            <a:r>
              <a:rPr dirty="0"/>
              <a:t> </a:t>
            </a:r>
            <a:r>
              <a:rPr dirty="0" err="1"/>
              <a:t>архитектуре</a:t>
            </a:r>
            <a:r>
              <a:rPr dirty="0"/>
              <a:t>. Obsidian — </a:t>
            </a:r>
            <a:r>
              <a:rPr dirty="0" err="1"/>
              <a:t>база</a:t>
            </a:r>
            <a:r>
              <a:rPr dirty="0"/>
              <a:t> </a:t>
            </a:r>
            <a:r>
              <a:rPr dirty="0" err="1"/>
              <a:t>знаний</a:t>
            </a:r>
            <a:r>
              <a:rPr dirty="0"/>
              <a:t> и </a:t>
            </a:r>
            <a:r>
              <a:rPr dirty="0" err="1"/>
              <a:t>память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. И </a:t>
            </a:r>
            <a:r>
              <a:rPr dirty="0" err="1"/>
              <a:t>команды</a:t>
            </a:r>
            <a:r>
              <a:rPr dirty="0"/>
              <a:t> «MM»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простые</a:t>
            </a:r>
            <a:r>
              <a:rPr dirty="0"/>
              <a:t> </a:t>
            </a:r>
            <a:r>
              <a:rPr dirty="0" err="1"/>
              <a:t>фразы</a:t>
            </a:r>
            <a:r>
              <a:rPr dirty="0"/>
              <a:t> Claude </a:t>
            </a:r>
            <a:r>
              <a:rPr dirty="0" err="1"/>
              <a:t>вроде</a:t>
            </a:r>
            <a:r>
              <a:rPr dirty="0"/>
              <a:t> «</a:t>
            </a:r>
            <a:r>
              <a:rPr dirty="0" err="1"/>
              <a:t>Синхронизируй</a:t>
            </a:r>
            <a:r>
              <a:rPr dirty="0"/>
              <a:t> </a:t>
            </a:r>
            <a:r>
              <a:rPr dirty="0" err="1"/>
              <a:t>gsd</a:t>
            </a:r>
            <a:r>
              <a:rPr dirty="0"/>
              <a:t>» и «</a:t>
            </a:r>
            <a:r>
              <a:rPr dirty="0" err="1"/>
              <a:t>сохрани</a:t>
            </a:r>
            <a:r>
              <a:rPr dirty="0"/>
              <a:t> </a:t>
            </a:r>
            <a:r>
              <a:rPr dirty="0" err="1"/>
              <a:t>сессию</a:t>
            </a:r>
            <a:r>
              <a:rPr dirty="0"/>
              <a:t>».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всё</a:t>
            </a:r>
            <a:r>
              <a:rPr dirty="0"/>
              <a:t> </a:t>
            </a:r>
            <a:r>
              <a:rPr dirty="0" err="1"/>
              <a:t>запоминать</a:t>
            </a:r>
            <a:r>
              <a:rPr dirty="0"/>
              <a:t> —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следующих</a:t>
            </a:r>
            <a:r>
              <a:rPr dirty="0"/>
              <a:t> </a:t>
            </a:r>
            <a:r>
              <a:rPr dirty="0" err="1"/>
              <a:t>слайдах</a:t>
            </a:r>
            <a:r>
              <a:rPr dirty="0"/>
              <a:t> </a:t>
            </a:r>
            <a:r>
              <a:rPr dirty="0" err="1"/>
              <a:t>разберём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частям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 — это программа, где вы пишете код, запускаете его и общаетесь с ИИ-помощником. Рекомендуем VS Code: он бесплатный, к нему есть расширения для Python, Git и ИИ, и он лучше всего дружит с нашим потоком (GSD, KiloCode). Cursor и Z.ai — рабочие альтернативы со встроенным ИИ; если уже привыкли — пользуйтесь, принцип тот же. Для новичка совет один: ставьте VS Code.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Четыре помощника, которые ставятся поверх редактора. GSD — планирование и исполнение заданий (команды /gsd-*). Graphify отвечает на вопросы о проекте по графу кода. KiloCode — ИИ-агент прямо в VS Code, помогает писать и править код по задаче. Perplexity — умный поиск с ссылками на источники: удобно искать Revit API и примеры. Всё это снижает порог входа — ИИ берёт рутину на себя.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</a:t>
            </a:r>
            <a:r>
              <a:rPr dirty="0" err="1"/>
              <a:t>аждое</a:t>
            </a:r>
            <a:r>
              <a:rPr dirty="0"/>
              <a:t> ЗАДАНИЕ </a:t>
            </a:r>
            <a:r>
              <a:rPr dirty="0" err="1"/>
              <a:t>живёт</a:t>
            </a:r>
            <a:r>
              <a:rPr dirty="0"/>
              <a:t> в </a:t>
            </a:r>
            <a:r>
              <a:rPr dirty="0" err="1"/>
              <a:t>системе</a:t>
            </a:r>
            <a:r>
              <a:rPr dirty="0"/>
              <a:t> GSD и </a:t>
            </a:r>
            <a:r>
              <a:rPr dirty="0" err="1"/>
              <a:t>проходит</a:t>
            </a:r>
            <a:r>
              <a:rPr dirty="0"/>
              <a:t> 4 </a:t>
            </a:r>
            <a:r>
              <a:rPr dirty="0" err="1"/>
              <a:t>статуса</a:t>
            </a:r>
            <a:r>
              <a:rPr dirty="0"/>
              <a:t>: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начато</a:t>
            </a:r>
            <a:r>
              <a:rPr dirty="0"/>
              <a:t> → В </a:t>
            </a:r>
            <a:r>
              <a:rPr dirty="0" err="1"/>
              <a:t>работе</a:t>
            </a:r>
            <a:r>
              <a:rPr dirty="0"/>
              <a:t> → </a:t>
            </a:r>
            <a:r>
              <a:rPr dirty="0" err="1"/>
              <a:t>Готово</a:t>
            </a:r>
            <a:r>
              <a:rPr dirty="0"/>
              <a:t> → </a:t>
            </a:r>
            <a:r>
              <a:rPr dirty="0" err="1"/>
              <a:t>Релиз</a:t>
            </a:r>
            <a:r>
              <a:rPr dirty="0"/>
              <a:t>. </a:t>
            </a:r>
            <a:r>
              <a:rPr dirty="0" err="1"/>
              <a:t>Работаем</a:t>
            </a:r>
            <a:r>
              <a:rPr dirty="0"/>
              <a:t> </a:t>
            </a:r>
            <a:r>
              <a:rPr dirty="0" err="1"/>
              <a:t>спринтами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1–3 </a:t>
            </a:r>
            <a:r>
              <a:rPr dirty="0" err="1"/>
              <a:t>недели</a:t>
            </a:r>
            <a:r>
              <a:rPr dirty="0"/>
              <a:t>; </a:t>
            </a:r>
            <a:r>
              <a:rPr dirty="0" err="1"/>
              <a:t>итог</a:t>
            </a:r>
            <a:r>
              <a:rPr dirty="0"/>
              <a:t> </a:t>
            </a:r>
            <a:r>
              <a:rPr dirty="0" err="1"/>
              <a:t>спринта</a:t>
            </a:r>
            <a:r>
              <a:rPr dirty="0"/>
              <a:t> — </a:t>
            </a:r>
            <a:r>
              <a:rPr dirty="0" err="1"/>
              <a:t>общая</a:t>
            </a:r>
            <a:r>
              <a:rPr dirty="0"/>
              <a:t> </a:t>
            </a:r>
            <a:r>
              <a:rPr dirty="0" err="1"/>
              <a:t>сборка</a:t>
            </a:r>
            <a:r>
              <a:rPr dirty="0"/>
              <a:t> </a:t>
            </a:r>
            <a:r>
              <a:rPr dirty="0" err="1"/>
              <a:t>плагинов</a:t>
            </a:r>
            <a:r>
              <a:rPr dirty="0"/>
              <a:t>. А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фазы</a:t>
            </a:r>
            <a:r>
              <a:rPr dirty="0"/>
              <a:t> GSD </a:t>
            </a:r>
            <a:r>
              <a:rPr dirty="0" err="1"/>
              <a:t>задание</a:t>
            </a:r>
            <a:r>
              <a:rPr dirty="0"/>
              <a:t> </a:t>
            </a:r>
            <a:r>
              <a:rPr dirty="0" err="1"/>
              <a:t>идёт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циклу</a:t>
            </a:r>
            <a:r>
              <a:rPr dirty="0"/>
              <a:t>: </a:t>
            </a:r>
            <a:r>
              <a:rPr dirty="0" err="1"/>
              <a:t>обсуждение</a:t>
            </a:r>
            <a:r>
              <a:rPr dirty="0"/>
              <a:t> → </a:t>
            </a:r>
            <a:r>
              <a:rPr dirty="0" err="1"/>
              <a:t>план</a:t>
            </a:r>
            <a:r>
              <a:rPr dirty="0"/>
              <a:t> → </a:t>
            </a:r>
            <a:r>
              <a:rPr dirty="0" err="1"/>
              <a:t>исполнение</a:t>
            </a:r>
            <a:r>
              <a:rPr dirty="0"/>
              <a:t> → </a:t>
            </a:r>
            <a:r>
              <a:rPr dirty="0" err="1"/>
              <a:t>проверка</a:t>
            </a:r>
            <a:r>
              <a:rPr dirty="0"/>
              <a:t>. </a:t>
            </a:r>
            <a:r>
              <a:rPr dirty="0" err="1"/>
              <a:t>Детали</a:t>
            </a:r>
            <a:r>
              <a:rPr dirty="0"/>
              <a:t> </a:t>
            </a:r>
            <a:r>
              <a:rPr dirty="0" err="1"/>
              <a:t>дальше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Откуда берутся задачи. Ничего не придумываем на ходу: всё фиксируется в двух общих документах. Сводный Реестр Плагинов (Google Sheets) — общий каталог всех инструментов с листами по типам и статусами. Таблицы заданий ведут Мастера продуктов по своим дисциплинам; там поля: статус, версия релиза, группа, описание, автор, даты, комментарий. Само ТЗ на новый инструмент готовит Мастер продукта, а утверждает BIM-менеджер.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Ключевая мысль: Карта релизов — единственный источник правды. Задания в GSD не создаём руками — они импортируются из Карты. Соответствие простое: цикл релизов → Milestone, версия vYYMMDD → фаза, задание с 6-значным ID → требование REQ-&lt;ID&gt;, первые 3 цифры ID → идентификатор плагина. Запускается всё одной фразой — «Синхронизируй gsd»: она проверяет CSV и генерирует плановые файлы (ROADMAP, REQUIREMENTS, release-map.json). Статусы двигаются только вперёд, откат назад запрещён.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Четыре основные команды GSD. discuss-phase — собирает контекст фазы вопросами. plan-phase — делает подробный план (файл PLAN.md). execute-phase — выполняет план, распараллеливая работу. validate-phase — проверяет, что ничего не упущено. Дополнительно: verify-work — проверка результата глазами пользователя (UAT), и ship — создание PR, ревью и выпуск. Команды набираются со слэшем и номером фазы, например /gsd-plan-phase 2.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 теперь тот же процесс по шагам — это раздел 8.2.1 регламента. Шаг 1: обновить Карту релизов (экспорт CSV, «Синхронизируй gsd», коммит). Шаг 2: перевести задания в «В работе» и запустить план и исполнение фазы. Шаг 3: по мере готовности ставить заданиям статус «Готово». Шаг 4: проверить работу, поставить «Релиз», выпустить через /gsd-ship и выгрузить результат обратно. Команды подписаны под каждым шагом — можно повторять по образцу.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Как закрывать работу. Фраза «сохрани сессию» запускает ритуал: заметка в Obsidian с датой, обновление приоритетов, отдельные заметки по решениям и багам, обновление индекса. Затем — коммит: важно, что каждая сессия оформляется ОТДЕЛЬНЫМ коммитом только по своим файлам, в формате session: дата и описание. После обновления графа (graphify update .) делаем git push — и изменения уезжают на GitHub, где их видит вся команда.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Резюме для новичка — с чего начать завтра. Главная мысль: не писать код с нуля, а идти по конвейеру и командам. Пять шагов: поставить VS Code и склонировать репозиторий; взять задание со статусом «Не начато»; синхронизировать GSD и запустить план/исполнение; проверить результат и выставить статусы; выпустить через ship и сохранить сессию с коммитом. Если держаться этого порядка — всё получится.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Где посмотреть подробности. Полный регламент — в корпоративной Wiki по ссылке wikign.com/x/d5_rCw (открывается только с рабочего ПК). Офлайн-копия PDF лежит в репозитории в папке docs. Самые полезные разделы: 7 (Реестр и Карта релизов), 8.2.1 (поток GSD), 11 (панель GENPRO LAB, взаимодействие с GSD и база знаний). Сам реестр и Карта релизов — в Google Sheets.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Спасибо за внимание. Готов ответить на вопросы и помочь с настройкой среды на ваших машинах.</a:t>
            </a: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8730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C75BF1AA-6C09-438A-BEC8-53D60A0B1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D6219-D6B1-4B75-8FF2-0918ABFC81DA}" type="datetime1">
              <a:rPr lang="LID4096" smtClean="0"/>
              <a:t>07/24/2026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437357-CC6C-4C7B-B090-1EE434F87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22E330-D7E9-4346-B743-3D9120E9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975" y="6413501"/>
            <a:ext cx="419100" cy="365125"/>
          </a:xfrm>
        </p:spPr>
        <p:txBody>
          <a:bodyPr/>
          <a:lstStyle>
            <a:lvl1pPr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Helvetica Light" panose="00000500000000000000" pitchFamily="50" charset="0"/>
              </a:defRPr>
            </a:lvl1pPr>
          </a:lstStyle>
          <a:p>
            <a:fld id="{20451E4D-1ED2-45C4-B68C-CE89E1AEF7A4}" type="slidenum">
              <a:rPr lang="ru-UA" smtClean="0"/>
              <a:pPr/>
              <a:t>‹#›</a:t>
            </a:fld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313436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9E2025-5EF8-42D2-8670-0BB0293FFE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219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5" name="Google Shape;85;p1"/>
          <p:cNvSpPr/>
          <p:nvPr/>
        </p:nvSpPr>
        <p:spPr>
          <a:xfrm rot="-5400000">
            <a:off x="2667001" y="-2667000"/>
            <a:ext cx="6858000" cy="12192000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2E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Title"/>
          <p:cNvSpPr txBox="1"/>
          <p:nvPr/>
        </p:nvSpPr>
        <p:spPr>
          <a:xfrm>
            <a:off x="4600000" y="720000"/>
            <a:ext cx="6826993" cy="17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b="0" dirty="0">
                <a:solidFill>
                  <a:srgbClr val="FFFFFF"/>
                </a:solidFill>
                <a:latin typeface="TT Norms Pro Medium" pitchFamily="2" charset="0"/>
                <a:cs typeface="TT Norms Pro Medium" pitchFamily="2" charset="0"/>
              </a:rPr>
              <a:t>Стандартизация разработки инструментов PyRevit</a:t>
            </a:r>
          </a:p>
        </p:txBody>
      </p:sp>
      <p:sp>
        <p:nvSpPr>
          <p:cNvPr id="202" name="Subtitle"/>
          <p:cNvSpPr txBox="1"/>
          <p:nvPr/>
        </p:nvSpPr>
        <p:spPr>
          <a:xfrm>
            <a:off x="4600000" y="2560000"/>
            <a:ext cx="6826993" cy="1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r">
              <a:spcBef>
                <a:spcPts val="0"/>
              </a:spcBef>
              <a:spcAft>
                <a:spcPts val="180"/>
              </a:spcAft>
              <a:buNone/>
            </a:pPr>
            <a:r>
              <a:rPr lang="ru-RU" sz="1600" dirty="0">
                <a:solidFill>
                  <a:srgbClr val="D7E7E9"/>
                </a:solidFill>
                <a:latin typeface="TT Norms Pro Medium" pitchFamily="2" charset="0"/>
                <a:cs typeface="TT Norms Pro Medium" pitchFamily="2" charset="0"/>
              </a:rPr>
              <a:t>Тема 1. </a:t>
            </a:r>
            <a:r>
              <a:rPr lang="ru-RU" sz="1600" b="0" dirty="0">
                <a:solidFill>
                  <a:srgbClr val="D7E7E9"/>
                </a:solidFill>
                <a:latin typeface="TT Norms Pro Medium" pitchFamily="2" charset="0"/>
                <a:cs typeface="TT Norms Pro Medium" pitchFamily="2" charset="0"/>
              </a:rPr>
              <a:t>Корпоративная среда разработки </a:t>
            </a:r>
            <a:r>
              <a:rPr lang="en-US" sz="1600" dirty="0">
                <a:solidFill>
                  <a:srgbClr val="D7E7E9"/>
                </a:solidFill>
                <a:latin typeface="TT Norms Pro Medium" pitchFamily="2" charset="0"/>
                <a:cs typeface="TT Norms Pro Medium" pitchFamily="2" charset="0"/>
              </a:rPr>
              <a:t>MM</a:t>
            </a:r>
            <a:r>
              <a:rPr lang="ru-RU" sz="1600" b="0" dirty="0">
                <a:solidFill>
                  <a:srgbClr val="D7E7E9"/>
                </a:solidFill>
                <a:latin typeface="TT Norms Pro Medium" pitchFamily="2" charset="0"/>
                <a:cs typeface="TT Norms Pro Medium" pitchFamily="2" charset="0"/>
              </a:rPr>
              <a:t> LAB</a:t>
            </a:r>
          </a:p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Настройка и работа по этапам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9925DBF-3C37-4BF4-BDFE-2FCFB9C8AA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18" y="787118"/>
            <a:ext cx="1945419" cy="3943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66D300-2F8C-4786-B892-E6179CBB3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20" y="787118"/>
            <a:ext cx="315217" cy="315774"/>
          </a:xfrm>
          <a:prstGeom prst="rect">
            <a:avLst/>
          </a:prstGeom>
        </p:spPr>
      </p:pic>
      <p:sp>
        <p:nvSpPr>
          <p:cNvPr id="21" name="Heading"/>
          <p:cNvSpPr txBox="1"/>
          <p:nvPr/>
        </p:nvSpPr>
        <p:spPr>
          <a:xfrm>
            <a:off x="653146" y="1179122"/>
            <a:ext cx="10885708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Общая архитектура разработки</a:t>
            </a:r>
          </a:p>
        </p:txBody>
      </p:sp>
      <p:sp>
        <p:nvSpPr>
          <p:cNvPr id="22" name="card"/>
          <p:cNvSpPr txBox="1"/>
          <p:nvPr/>
        </p:nvSpPr>
        <p:spPr>
          <a:xfrm>
            <a:off x="653146" y="2040000"/>
            <a:ext cx="3468569" cy="21300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>
            <a:noFill/>
          </a:ln>
        </p:spPr>
        <p:txBody>
          <a:bodyPr wrap="square" lIns="228600" tIns="182880" rIns="182880" bIns="137160" rtlCol="0" anchor="t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10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01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55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Репозиторий и GitHub</a:t>
            </a:r>
          </a:p>
          <a:p>
            <a:pPr marL="0" indent="0">
              <a:lnSpc>
                <a:spcPct val="104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ru-RU" sz="12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Единое хранилище кода панели (MM LAB.extension): история, ветки, синхронизация команды.</a:t>
            </a:r>
            <a:endParaRPr lang="en-US" sz="1200" b="0" dirty="0">
              <a:solidFill>
                <a:srgbClr val="5E6A6B"/>
              </a:solidFill>
              <a:latin typeface="TT Norms Pro" pitchFamily="2" charset="0"/>
              <a:cs typeface="TT Norms Pro" pitchFamily="2" charset="0"/>
            </a:endParaRPr>
          </a:p>
          <a:p>
            <a:pPr marL="0" indent="0">
              <a:lnSpc>
                <a:spcPct val="104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2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https://github.com/GenproMM/MMLab_TOOLS.git</a:t>
            </a:r>
            <a:endParaRPr lang="ru-RU" sz="1200" b="0" dirty="0">
              <a:solidFill>
                <a:srgbClr val="5E6A6B"/>
              </a:solidFill>
              <a:latin typeface="TT Norms Pro" pitchFamily="2" charset="0"/>
              <a:cs typeface="TT Norms Pro" pitchFamily="2" charset="0"/>
            </a:endParaRPr>
          </a:p>
        </p:txBody>
      </p:sp>
      <p:sp>
        <p:nvSpPr>
          <p:cNvPr id="23" name="card"/>
          <p:cNvSpPr txBox="1"/>
          <p:nvPr/>
        </p:nvSpPr>
        <p:spPr>
          <a:xfrm>
            <a:off x="4361715" y="2040000"/>
            <a:ext cx="3468569" cy="21300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>
            <a:noFill/>
          </a:ln>
        </p:spPr>
        <p:txBody>
          <a:bodyPr wrap="square" lIns="228600" tIns="182880" rIns="182880" bIns="137160" rtlCol="0" anchor="t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10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02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55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GSD — </a:t>
            </a:r>
            <a:r>
              <a:rPr lang="en-US" sz="155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Git. Ship. Done.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2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Планирование и исполнение заданий. Управление командами /</a:t>
            </a:r>
            <a:r>
              <a:rPr lang="ru-RU" sz="1200" b="0" dirty="0" err="1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gsd</a:t>
            </a:r>
            <a:r>
              <a:rPr lang="ru-RU" sz="12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-*.</a:t>
            </a:r>
            <a:endParaRPr lang="en-US" sz="1200" b="0" dirty="0">
              <a:solidFill>
                <a:srgbClr val="5E6A6B"/>
              </a:solidFill>
              <a:latin typeface="TT Norms Pro" pitchFamily="2" charset="0"/>
              <a:cs typeface="TT Norms Pro" pitchFamily="2" charset="0"/>
            </a:endParaRP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https://github.com/open-gsd/gsd-core</a:t>
            </a:r>
            <a:endParaRPr lang="ru-RU" sz="1200" b="0" dirty="0">
              <a:solidFill>
                <a:srgbClr val="5E6A6B"/>
              </a:solidFill>
              <a:latin typeface="TT Norms Pro" pitchFamily="2" charset="0"/>
              <a:cs typeface="TT Norms Pro" pitchFamily="2" charset="0"/>
            </a:endParaRPr>
          </a:p>
        </p:txBody>
      </p:sp>
      <p:sp>
        <p:nvSpPr>
          <p:cNvPr id="24" name="card"/>
          <p:cNvSpPr txBox="1"/>
          <p:nvPr/>
        </p:nvSpPr>
        <p:spPr>
          <a:xfrm>
            <a:off x="8070284" y="2040000"/>
            <a:ext cx="3468569" cy="21300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>
            <a:noFill/>
          </a:ln>
        </p:spPr>
        <p:txBody>
          <a:bodyPr wrap="square" lIns="228600" tIns="182880" rIns="182880" bIns="137160" rtlCol="0" anchor="t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10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03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55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Карта релизов ↔ GSD</a:t>
            </a:r>
          </a:p>
          <a:p>
            <a:pPr marL="0" indent="0">
              <a:lnSpc>
                <a:spcPct val="104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ru-RU" sz="12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Единственный источник правды по заданиям. В GSD импортируется, не создаётся вручную.</a:t>
            </a:r>
            <a:endParaRPr lang="en-US" sz="1200" b="0" dirty="0">
              <a:solidFill>
                <a:srgbClr val="5E6A6B"/>
              </a:solidFill>
              <a:latin typeface="TT Norms Pro" pitchFamily="2" charset="0"/>
              <a:cs typeface="TT Norms Pro" pitchFamily="2" charset="0"/>
            </a:endParaRPr>
          </a:p>
          <a:p>
            <a:pPr marL="0" indent="0">
              <a:lnSpc>
                <a:spcPct val="104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2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https://docs.google.com/spreadsheets/d/1HMZ4YVB-eSMmD_6hMD3yHjmaXJFfnZqy2bsx1mR-p_0/edit?gid=788153722#gid=788153722</a:t>
            </a:r>
            <a:endParaRPr lang="ru-RU" sz="1200" b="0" dirty="0">
              <a:solidFill>
                <a:srgbClr val="5E6A6B"/>
              </a:solidFill>
              <a:latin typeface="TT Norms Pro" pitchFamily="2" charset="0"/>
              <a:cs typeface="TT Norms Pro" pitchFamily="2" charset="0"/>
            </a:endParaRPr>
          </a:p>
        </p:txBody>
      </p:sp>
      <p:sp>
        <p:nvSpPr>
          <p:cNvPr id="25" name="card"/>
          <p:cNvSpPr txBox="1"/>
          <p:nvPr/>
        </p:nvSpPr>
        <p:spPr>
          <a:xfrm>
            <a:off x="653146" y="4430000"/>
            <a:ext cx="3468569" cy="21300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>
            <a:noFill/>
          </a:ln>
        </p:spPr>
        <p:txBody>
          <a:bodyPr wrap="square" lIns="228600" tIns="182880" rIns="182880" bIns="137160" rtlCol="0" anchor="t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10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04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55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Graphify — граф кода</a:t>
            </a:r>
          </a:p>
          <a:p>
            <a:pPr marL="0" indent="0">
              <a:lnSpc>
                <a:spcPct val="104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ru-RU" sz="120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Автоматическая документация и регистрация связей компонентов внутри кодовой базы. </a:t>
            </a:r>
            <a:r>
              <a:rPr lang="ru-RU" sz="12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Быстрые ответы об архитектуре проекта вместо чтения всех файлов. </a:t>
            </a:r>
            <a:r>
              <a:rPr lang="ru-RU" sz="120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Валидация контекста, э</a:t>
            </a:r>
            <a:r>
              <a:rPr lang="ru-RU" sz="12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кономия токенов.</a:t>
            </a:r>
          </a:p>
        </p:txBody>
      </p:sp>
      <p:sp>
        <p:nvSpPr>
          <p:cNvPr id="26" name="card"/>
          <p:cNvSpPr txBox="1"/>
          <p:nvPr/>
        </p:nvSpPr>
        <p:spPr>
          <a:xfrm>
            <a:off x="4361715" y="4430000"/>
            <a:ext cx="3468569" cy="21300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>
            <a:noFill/>
          </a:ln>
        </p:spPr>
        <p:txBody>
          <a:bodyPr wrap="square" lIns="228600" tIns="182880" rIns="182880" bIns="137160" rtlCol="0" anchor="t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10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05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55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База знаний Obsidian</a:t>
            </a:r>
          </a:p>
          <a:p>
            <a:pPr marL="0" indent="0">
              <a:lnSpc>
                <a:spcPct val="104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ru-RU" sz="12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Память проекта: заметки сессий, принятые решения, разбор багов.</a:t>
            </a:r>
          </a:p>
        </p:txBody>
      </p:sp>
      <p:sp>
        <p:nvSpPr>
          <p:cNvPr id="27" name="card"/>
          <p:cNvSpPr txBox="1"/>
          <p:nvPr/>
        </p:nvSpPr>
        <p:spPr>
          <a:xfrm>
            <a:off x="8070284" y="4430000"/>
            <a:ext cx="3468569" cy="21300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>
            <a:noFill/>
          </a:ln>
        </p:spPr>
        <p:txBody>
          <a:bodyPr wrap="square" lIns="228600" tIns="182880" rIns="182880" bIns="137160" rtlCol="0" anchor="t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10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06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55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Команды «MM»</a:t>
            </a:r>
          </a:p>
          <a:p>
            <a:pPr marL="0" indent="0">
              <a:lnSpc>
                <a:spcPct val="104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ru-RU" sz="12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Языковые команды Claude: «Синхронизируй gsd», «сохрани сессию».</a:t>
            </a:r>
          </a:p>
        </p:txBody>
      </p:sp>
    </p:spTree>
    <p:extLst>
      <p:ext uri="{BB962C8B-B14F-4D97-AF65-F5344CB8AC3E}">
        <p14:creationId xmlns:p14="http://schemas.microsoft.com/office/powerpoint/2010/main" val="778782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66D300-2F8C-4786-B892-E6179CBB3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20" y="787118"/>
            <a:ext cx="315217" cy="315774"/>
          </a:xfrm>
          <a:prstGeom prst="rect">
            <a:avLst/>
          </a:prstGeom>
        </p:spPr>
      </p:pic>
      <p:sp>
        <p:nvSpPr>
          <p:cNvPr id="21" name="Heading"/>
          <p:cNvSpPr txBox="1"/>
          <p:nvPr/>
        </p:nvSpPr>
        <p:spPr>
          <a:xfrm>
            <a:off x="653146" y="1179122"/>
            <a:ext cx="10885708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Среда разработки: где писать код</a:t>
            </a:r>
          </a:p>
        </p:txBody>
      </p:sp>
      <p:sp>
        <p:nvSpPr>
          <p:cNvPr id="22" name="cap"/>
          <p:cNvSpPr txBox="1"/>
          <p:nvPr/>
        </p:nvSpPr>
        <p:spPr>
          <a:xfrm>
            <a:off x="653146" y="1900000"/>
            <a:ext cx="10885708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IDE — программа, в которой вы редактируете, запускаете код и работаете с ИИ-помощником.</a:t>
            </a:r>
          </a:p>
        </p:txBody>
      </p:sp>
      <p:sp>
        <p:nvSpPr>
          <p:cNvPr id="23" name="col1"/>
          <p:cNvSpPr txBox="1"/>
          <p:nvPr/>
        </p:nvSpPr>
        <p:spPr>
          <a:xfrm>
            <a:off x="653146" y="2380000"/>
            <a:ext cx="5262854" cy="4050000"/>
          </a:xfrm>
          <a:prstGeom prst="roundRect">
            <a:avLst>
              <a:gd name="adj" fmla="val 5000"/>
            </a:avLst>
          </a:prstGeom>
          <a:solidFill>
            <a:srgbClr val="127E8A"/>
          </a:solidFill>
          <a:ln>
            <a:noFill/>
          </a:ln>
        </p:spPr>
        <p:txBody>
          <a:bodyPr wrap="square" lIns="228600" tIns="205740" rIns="205740" bIns="45720" rtlCol="0" anchor="t"/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700" b="0" dirty="0">
                <a:solidFill>
                  <a:srgbClr val="FFFFFF"/>
                </a:solidFill>
                <a:latin typeface="TT Norms Pro Medium" pitchFamily="2" charset="0"/>
                <a:cs typeface="TT Norms Pro Medium" pitchFamily="2" charset="0"/>
              </a:rPr>
              <a:t>VS Code — рекомендуется</a:t>
            </a:r>
          </a:p>
          <a:p>
            <a:pPr marL="170000" indent="-170000">
              <a:lnSpc>
                <a:spcPct val="106000"/>
              </a:lnSpc>
              <a:spcBef>
                <a:spcPts val="0"/>
              </a:spcBef>
              <a:spcAft>
                <a:spcPts val="170"/>
              </a:spcAft>
              <a:buNone/>
            </a:pPr>
            <a:r>
              <a:rPr lang="ru-RU" sz="1300" b="0" dirty="0">
                <a:solidFill>
                  <a:srgbClr val="D7E7E9"/>
                </a:solidFill>
                <a:latin typeface="TT Norms Pro Medium" pitchFamily="2" charset="0"/>
                <a:cs typeface="TT Norms Pro Medium" pitchFamily="2" charset="0"/>
              </a:rPr>
              <a:t>•  </a:t>
            </a:r>
            <a:r>
              <a:rPr lang="ru-RU" sz="13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Бесплатный редактор кода от Microsoft.</a:t>
            </a:r>
          </a:p>
          <a:p>
            <a:pPr marL="170000" indent="-170000">
              <a:lnSpc>
                <a:spcPct val="106000"/>
              </a:lnSpc>
              <a:spcBef>
                <a:spcPts val="0"/>
              </a:spcBef>
              <a:spcAft>
                <a:spcPts val="170"/>
              </a:spcAft>
              <a:buNone/>
            </a:pPr>
            <a:r>
              <a:rPr lang="ru-RU" sz="1300" b="0" dirty="0">
                <a:solidFill>
                  <a:srgbClr val="D7E7E9"/>
                </a:solidFill>
                <a:latin typeface="TT Norms Pro Medium" pitchFamily="2" charset="0"/>
                <a:cs typeface="TT Norms Pro Medium" pitchFamily="2" charset="0"/>
              </a:rPr>
              <a:t>•  </a:t>
            </a:r>
            <a:r>
              <a:rPr lang="ru-RU" sz="13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Расширения для Python, Git и ИИ-агентов.</a:t>
            </a:r>
          </a:p>
          <a:p>
            <a:pPr marL="170000" indent="-170000">
              <a:lnSpc>
                <a:spcPct val="106000"/>
              </a:lnSpc>
              <a:spcBef>
                <a:spcPts val="0"/>
              </a:spcBef>
              <a:spcAft>
                <a:spcPts val="170"/>
              </a:spcAft>
              <a:buNone/>
            </a:pPr>
            <a:r>
              <a:rPr lang="ru-RU" sz="1300" b="0" dirty="0">
                <a:solidFill>
                  <a:srgbClr val="D7E7E9"/>
                </a:solidFill>
                <a:latin typeface="TT Norms Pro Medium" pitchFamily="2" charset="0"/>
                <a:cs typeface="TT Norms Pro Medium" pitchFamily="2" charset="0"/>
              </a:rPr>
              <a:t>•  </a:t>
            </a:r>
            <a:r>
              <a:rPr lang="ru-RU" sz="13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Максимальная совместимость с нашим потоком (GSD, KiloCode).</a:t>
            </a:r>
          </a:p>
        </p:txBody>
      </p:sp>
      <p:sp>
        <p:nvSpPr>
          <p:cNvPr id="24" name="col2"/>
          <p:cNvSpPr txBox="1"/>
          <p:nvPr/>
        </p:nvSpPr>
        <p:spPr>
          <a:xfrm>
            <a:off x="6276000" y="2380000"/>
            <a:ext cx="5262854" cy="40500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</p:spPr>
        <p:txBody>
          <a:bodyPr wrap="square" lIns="228600" tIns="205740" rIns="205740" bIns="45720" rtlCol="0" anchor="t"/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70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Альтернативы</a:t>
            </a:r>
          </a:p>
          <a:p>
            <a:pPr marL="170000" indent="-170000">
              <a:lnSpc>
                <a:spcPct val="106000"/>
              </a:lnSpc>
              <a:spcBef>
                <a:spcPts val="0"/>
              </a:spcBef>
              <a:spcAft>
                <a:spcPts val="170"/>
              </a:spcAft>
              <a:buNone/>
            </a:pPr>
            <a:r>
              <a:rPr lang="ru-RU" sz="130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•  </a:t>
            </a:r>
            <a:r>
              <a:rPr lang="ru-RU" sz="13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Cursor — редактор на базе VS Code со встроенным ИИ.</a:t>
            </a:r>
          </a:p>
          <a:p>
            <a:pPr marL="170000" indent="-170000">
              <a:lnSpc>
                <a:spcPct val="106000"/>
              </a:lnSpc>
              <a:spcBef>
                <a:spcPts val="0"/>
              </a:spcBef>
              <a:spcAft>
                <a:spcPts val="170"/>
              </a:spcAft>
              <a:buNone/>
            </a:pPr>
            <a:r>
              <a:rPr lang="ru-RU" sz="130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•  </a:t>
            </a:r>
            <a:r>
              <a:rPr lang="ru-RU" sz="13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Z.ai — среда с доступом к ИИ-моделям и чату.</a:t>
            </a:r>
          </a:p>
          <a:p>
            <a:pPr marL="170000" indent="-170000">
              <a:lnSpc>
                <a:spcPct val="106000"/>
              </a:lnSpc>
              <a:spcBef>
                <a:spcPts val="0"/>
              </a:spcBef>
              <a:spcAft>
                <a:spcPts val="170"/>
              </a:spcAft>
              <a:buNone/>
            </a:pPr>
            <a:r>
              <a:rPr lang="ru-RU" sz="13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Работают схоже; выбирайте привычное, если уже используете.</a:t>
            </a:r>
          </a:p>
        </p:txBody>
      </p:sp>
    </p:spTree>
    <p:extLst>
      <p:ext uri="{BB962C8B-B14F-4D97-AF65-F5344CB8AC3E}">
        <p14:creationId xmlns:p14="http://schemas.microsoft.com/office/powerpoint/2010/main" val="778782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66D300-2F8C-4786-B892-E6179CBB3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20" y="787118"/>
            <a:ext cx="315217" cy="315774"/>
          </a:xfrm>
          <a:prstGeom prst="rect">
            <a:avLst/>
          </a:prstGeom>
        </p:spPr>
      </p:pic>
      <p:sp>
        <p:nvSpPr>
          <p:cNvPr id="21" name="Heading"/>
          <p:cNvSpPr txBox="1"/>
          <p:nvPr/>
        </p:nvSpPr>
        <p:spPr>
          <a:xfrm>
            <a:off x="653146" y="1179122"/>
            <a:ext cx="10885708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Инструменты и ИИ-помощники</a:t>
            </a:r>
          </a:p>
        </p:txBody>
      </p:sp>
      <p:sp>
        <p:nvSpPr>
          <p:cNvPr id="22" name="card"/>
          <p:cNvSpPr txBox="1"/>
          <p:nvPr/>
        </p:nvSpPr>
        <p:spPr>
          <a:xfrm>
            <a:off x="653146" y="2040000"/>
            <a:ext cx="5292854" cy="2110000"/>
          </a:xfrm>
          <a:prstGeom prst="roundRect">
            <a:avLst>
              <a:gd name="adj" fmla="val 6000"/>
            </a:avLst>
          </a:prstGeom>
          <a:solidFill>
            <a:srgbClr val="127E8A"/>
          </a:solidFill>
          <a:ln>
            <a:noFill/>
          </a:ln>
        </p:spPr>
        <p:txBody>
          <a:bodyPr wrap="square" lIns="228600" tIns="182880" rIns="182880" bIns="137160" rtlCol="0" anchor="t"/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900" b="0" dirty="0">
                <a:solidFill>
                  <a:srgbClr val="FFFFFF"/>
                </a:solidFill>
                <a:latin typeface="TT Norms Pro Medium" pitchFamily="2" charset="0"/>
                <a:cs typeface="TT Norms Pro Medium" pitchFamily="2" charset="0"/>
              </a:rPr>
              <a:t>GSD</a:t>
            </a:r>
          </a:p>
          <a:p>
            <a:pPr marL="0" indent="0">
              <a:lnSpc>
                <a:spcPct val="104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ru-RU" sz="13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Планирование и исполнение заданий. Ставится как набор скиллов</a:t>
            </a:r>
            <a:r>
              <a:rPr lang="en-US" sz="13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 </a:t>
            </a:r>
            <a:r>
              <a:rPr lang="ru-RU" sz="13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(команды /</a:t>
            </a:r>
            <a:r>
              <a:rPr lang="ru-RU" sz="1300" b="0" dirty="0" err="1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gsd</a:t>
            </a:r>
            <a:r>
              <a:rPr lang="ru-RU" sz="13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-*).</a:t>
            </a:r>
            <a:endParaRPr lang="en-US" sz="1300" b="0" dirty="0">
              <a:solidFill>
                <a:srgbClr val="D7E7E9"/>
              </a:solidFill>
              <a:latin typeface="TT Norms Pro" pitchFamily="2" charset="0"/>
              <a:cs typeface="TT Norms Pro" pitchFamily="2" charset="0"/>
            </a:endParaRPr>
          </a:p>
          <a:p>
            <a:pPr marL="0" indent="0">
              <a:lnSpc>
                <a:spcPct val="104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ru-RU" sz="13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Открыть репозиторий через </a:t>
            </a:r>
            <a:r>
              <a:rPr lang="en-US" sz="13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VS Code </a:t>
            </a:r>
            <a:r>
              <a:rPr lang="ru-RU" sz="13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или через </a:t>
            </a:r>
            <a:r>
              <a:rPr lang="en-US" sz="1300" b="0" dirty="0" err="1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cmd</a:t>
            </a:r>
            <a:r>
              <a:rPr lang="ru-RU" sz="130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. </a:t>
            </a:r>
            <a:r>
              <a:rPr lang="ru-RU" sz="13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Запустить:</a:t>
            </a:r>
            <a:endParaRPr lang="en-US" sz="1300" b="0" dirty="0">
              <a:solidFill>
                <a:srgbClr val="D7E7E9"/>
              </a:solidFill>
              <a:latin typeface="TT Norms Pro" pitchFamily="2" charset="0"/>
              <a:cs typeface="TT Norms Pro" pitchFamily="2" charset="0"/>
            </a:endParaRPr>
          </a:p>
          <a:p>
            <a:pPr marL="0" indent="0">
              <a:lnSpc>
                <a:spcPct val="104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300" b="0" dirty="0" err="1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npx</a:t>
            </a:r>
            <a:r>
              <a:rPr lang="en-US" sz="13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 @opengsd/gsd-core@latest</a:t>
            </a:r>
            <a:endParaRPr lang="ru-RU" sz="1300" b="0" dirty="0">
              <a:solidFill>
                <a:srgbClr val="D7E7E9"/>
              </a:solidFill>
              <a:latin typeface="TT Norms Pro" pitchFamily="2" charset="0"/>
              <a:cs typeface="TT Norms Pro" pitchFamily="2" charset="0"/>
            </a:endParaRPr>
          </a:p>
        </p:txBody>
      </p:sp>
      <p:sp>
        <p:nvSpPr>
          <p:cNvPr id="23" name="card"/>
          <p:cNvSpPr txBox="1"/>
          <p:nvPr/>
        </p:nvSpPr>
        <p:spPr>
          <a:xfrm>
            <a:off x="6246000" y="2040000"/>
            <a:ext cx="5292854" cy="21100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>
            <a:noFill/>
          </a:ln>
        </p:spPr>
        <p:txBody>
          <a:bodyPr wrap="square" lIns="228600" tIns="182880" rIns="182880" bIns="137160" rtlCol="0" anchor="t"/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900" b="0" dirty="0" err="1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Graphify</a:t>
            </a:r>
            <a:r>
              <a:rPr lang="en-US" sz="190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/Obsidian</a:t>
            </a:r>
            <a:endParaRPr lang="ru-RU" sz="1900" b="0" dirty="0">
              <a:solidFill>
                <a:srgbClr val="1D1D1B"/>
              </a:solidFill>
              <a:latin typeface="TT Norms Pro Medium" pitchFamily="2" charset="0"/>
              <a:cs typeface="TT Norms Pro Medium" pitchFamily="2" charset="0"/>
            </a:endParaRPr>
          </a:p>
          <a:p>
            <a:pPr marL="0" indent="0">
              <a:lnSpc>
                <a:spcPct val="104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ru-RU" sz="13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Строит граф кода, делает заметки сессий, принятые решения, разбор багов и отвечает на структурные вопросы.</a:t>
            </a:r>
          </a:p>
          <a:p>
            <a:pPr marL="0" indent="0">
              <a:lnSpc>
                <a:spcPct val="104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ru-RU" sz="130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Синхронизация запускается автоматически при сохранении сессии</a:t>
            </a:r>
            <a:endParaRPr lang="ru-RU" sz="1300" b="0" dirty="0">
              <a:solidFill>
                <a:srgbClr val="5E6A6B"/>
              </a:solidFill>
              <a:latin typeface="TT Norms Pro" pitchFamily="2" charset="0"/>
              <a:cs typeface="TT Norms Pro" pitchFamily="2" charset="0"/>
            </a:endParaRPr>
          </a:p>
        </p:txBody>
      </p:sp>
      <p:sp>
        <p:nvSpPr>
          <p:cNvPr id="24" name="card"/>
          <p:cNvSpPr txBox="1"/>
          <p:nvPr/>
        </p:nvSpPr>
        <p:spPr>
          <a:xfrm>
            <a:off x="653146" y="4450000"/>
            <a:ext cx="5292854" cy="2110000"/>
          </a:xfrm>
          <a:prstGeom prst="roundRect">
            <a:avLst>
              <a:gd name="adj" fmla="val 6000"/>
            </a:avLst>
          </a:prstGeom>
          <a:solidFill>
            <a:srgbClr val="127E8A"/>
          </a:solidFill>
          <a:ln>
            <a:noFill/>
          </a:ln>
        </p:spPr>
        <p:txBody>
          <a:bodyPr wrap="square" lIns="228600" tIns="182880" rIns="182880" bIns="137160" rtlCol="0" anchor="t"/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900" b="0" dirty="0">
                <a:solidFill>
                  <a:srgbClr val="FFFFFF"/>
                </a:solidFill>
                <a:latin typeface="TT Norms Pro Medium" pitchFamily="2" charset="0"/>
                <a:cs typeface="TT Norms Pro Medium" pitchFamily="2" charset="0"/>
              </a:rPr>
              <a:t>KiloCode</a:t>
            </a:r>
          </a:p>
          <a:p>
            <a:pPr marL="0" indent="0">
              <a:lnSpc>
                <a:spcPct val="104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ru-RU" sz="13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ИИ-агент для кодинга прямо в VS Code: правки и генерация по задаче. Есть бесплатные модели, есть платные на основе </a:t>
            </a:r>
            <a:r>
              <a:rPr lang="en-US" sz="13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API </a:t>
            </a:r>
            <a:r>
              <a:rPr lang="ru-RU" sz="13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токенов.</a:t>
            </a:r>
          </a:p>
        </p:txBody>
      </p:sp>
      <p:sp>
        <p:nvSpPr>
          <p:cNvPr id="25" name="card"/>
          <p:cNvSpPr txBox="1"/>
          <p:nvPr/>
        </p:nvSpPr>
        <p:spPr>
          <a:xfrm>
            <a:off x="6246000" y="4450000"/>
            <a:ext cx="5292854" cy="21100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>
            <a:noFill/>
          </a:ln>
        </p:spPr>
        <p:txBody>
          <a:bodyPr wrap="square" lIns="228600" tIns="182880" rIns="182880" bIns="137160" rtlCol="0" anchor="t"/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90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Perplexity</a:t>
            </a:r>
          </a:p>
          <a:p>
            <a:pPr marL="0" indent="0">
              <a:lnSpc>
                <a:spcPct val="104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ru-RU" sz="13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ИИ-поиск с источниками: быстро найти Revit API, примеры, документацию. Можно подключить </a:t>
            </a:r>
            <a:r>
              <a:rPr lang="en-US" sz="1300" b="0" dirty="0" err="1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mcp</a:t>
            </a:r>
            <a:r>
              <a:rPr lang="en-US" sz="13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 </a:t>
            </a:r>
            <a:r>
              <a:rPr lang="ru-RU" sz="13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через плагин </a:t>
            </a:r>
            <a:r>
              <a:rPr lang="en-US" sz="13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VS Code</a:t>
            </a:r>
            <a:endParaRPr lang="ru-RU" sz="1300" b="0" dirty="0">
              <a:solidFill>
                <a:srgbClr val="5E6A6B"/>
              </a:solidFill>
              <a:latin typeface="TT Norms Pro" pitchFamily="2" charset="0"/>
              <a:cs typeface="TT Norms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782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66D300-2F8C-4786-B892-E6179CBB3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20" y="787118"/>
            <a:ext cx="315217" cy="315774"/>
          </a:xfrm>
          <a:prstGeom prst="rect">
            <a:avLst/>
          </a:prstGeom>
        </p:spPr>
      </p:pic>
      <p:sp>
        <p:nvSpPr>
          <p:cNvPr id="21" name="Heading"/>
          <p:cNvSpPr txBox="1"/>
          <p:nvPr/>
        </p:nvSpPr>
        <p:spPr>
          <a:xfrm>
            <a:off x="653146" y="1179122"/>
            <a:ext cx="10885708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Этапы разработки: от задания до релиза</a:t>
            </a:r>
          </a:p>
        </p:txBody>
      </p:sp>
      <p:sp>
        <p:nvSpPr>
          <p:cNvPr id="29" name="capB"/>
          <p:cNvSpPr txBox="1"/>
          <p:nvPr/>
        </p:nvSpPr>
        <p:spPr>
          <a:xfrm>
            <a:off x="653146" y="2617030"/>
            <a:ext cx="10885708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2. Жизненный цикл задания — 4 статуса</a:t>
            </a:r>
          </a:p>
        </p:txBody>
      </p:sp>
      <p:sp>
        <p:nvSpPr>
          <p:cNvPr id="30" name="chip"/>
          <p:cNvSpPr txBox="1"/>
          <p:nvPr/>
        </p:nvSpPr>
        <p:spPr>
          <a:xfrm>
            <a:off x="653146" y="2957030"/>
            <a:ext cx="2563927" cy="900000"/>
          </a:xfrm>
          <a:prstGeom prst="roundRect">
            <a:avLst>
              <a:gd name="adj" fmla="val 9000"/>
            </a:avLst>
          </a:prstGeom>
          <a:solidFill>
            <a:srgbClr val="127E8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400" b="0" dirty="0">
                <a:solidFill>
                  <a:srgbClr val="FFFFFF"/>
                </a:solidFill>
                <a:latin typeface="TT Norms Pro Medium" pitchFamily="2" charset="0"/>
                <a:cs typeface="TT Norms Pro Medium" pitchFamily="2" charset="0"/>
              </a:rPr>
              <a:t>Не начато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импортировано из Карты релизов</a:t>
            </a:r>
          </a:p>
        </p:txBody>
      </p:sp>
      <p:sp>
        <p:nvSpPr>
          <p:cNvPr id="31" name="arrow"/>
          <p:cNvSpPr txBox="1"/>
          <p:nvPr/>
        </p:nvSpPr>
        <p:spPr>
          <a:xfrm>
            <a:off x="3217073" y="2957030"/>
            <a:ext cx="21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dirty="0">
                <a:solidFill>
                  <a:srgbClr val="0C5A64"/>
                </a:solidFill>
                <a:latin typeface="TT Norms Pro Medium" pitchFamily="2" charset="0"/>
                <a:cs typeface="TT Norms Pro Medium" pitchFamily="2" charset="0"/>
              </a:rPr>
              <a:t>→</a:t>
            </a:r>
          </a:p>
        </p:txBody>
      </p:sp>
      <p:sp>
        <p:nvSpPr>
          <p:cNvPr id="32" name="chip"/>
          <p:cNvSpPr txBox="1"/>
          <p:nvPr/>
        </p:nvSpPr>
        <p:spPr>
          <a:xfrm>
            <a:off x="3427073" y="2957030"/>
            <a:ext cx="2563927" cy="900000"/>
          </a:xfrm>
          <a:prstGeom prst="roundRect">
            <a:avLst>
              <a:gd name="adj" fmla="val 9000"/>
            </a:avLst>
          </a:prstGeom>
          <a:solidFill>
            <a:srgbClr val="127E8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400" b="0" dirty="0">
                <a:solidFill>
                  <a:srgbClr val="FFFFFF"/>
                </a:solidFill>
                <a:latin typeface="TT Norms Pro Medium" pitchFamily="2" charset="0"/>
                <a:cs typeface="TT Norms Pro Medium" pitchFamily="2" charset="0"/>
              </a:rPr>
              <a:t>В работе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старт фазы разработки</a:t>
            </a:r>
          </a:p>
        </p:txBody>
      </p:sp>
      <p:sp>
        <p:nvSpPr>
          <p:cNvPr id="33" name="arrow"/>
          <p:cNvSpPr txBox="1"/>
          <p:nvPr/>
        </p:nvSpPr>
        <p:spPr>
          <a:xfrm>
            <a:off x="5991000" y="2957030"/>
            <a:ext cx="21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dirty="0">
                <a:solidFill>
                  <a:srgbClr val="0C5A64"/>
                </a:solidFill>
                <a:latin typeface="TT Norms Pro Medium" pitchFamily="2" charset="0"/>
                <a:cs typeface="TT Norms Pro Medium" pitchFamily="2" charset="0"/>
              </a:rPr>
              <a:t>→</a:t>
            </a:r>
          </a:p>
        </p:txBody>
      </p:sp>
      <p:sp>
        <p:nvSpPr>
          <p:cNvPr id="34" name="chip"/>
          <p:cNvSpPr txBox="1"/>
          <p:nvPr/>
        </p:nvSpPr>
        <p:spPr>
          <a:xfrm>
            <a:off x="6201000" y="2957030"/>
            <a:ext cx="2563927" cy="900000"/>
          </a:xfrm>
          <a:prstGeom prst="roundRect">
            <a:avLst>
              <a:gd name="adj" fmla="val 9000"/>
            </a:avLst>
          </a:prstGeom>
          <a:solidFill>
            <a:srgbClr val="127E8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400" b="0" dirty="0">
                <a:solidFill>
                  <a:srgbClr val="FFFFFF"/>
                </a:solidFill>
                <a:latin typeface="TT Norms Pro Medium" pitchFamily="2" charset="0"/>
                <a:cs typeface="TT Norms Pro Medium" pitchFamily="2" charset="0"/>
              </a:rPr>
              <a:t>Готово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функционал реализован</a:t>
            </a:r>
          </a:p>
        </p:txBody>
      </p:sp>
      <p:sp>
        <p:nvSpPr>
          <p:cNvPr id="35" name="arrow"/>
          <p:cNvSpPr txBox="1"/>
          <p:nvPr/>
        </p:nvSpPr>
        <p:spPr>
          <a:xfrm>
            <a:off x="8764927" y="2957030"/>
            <a:ext cx="21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dirty="0">
                <a:solidFill>
                  <a:srgbClr val="0C5A64"/>
                </a:solidFill>
                <a:latin typeface="TT Norms Pro Medium" pitchFamily="2" charset="0"/>
                <a:cs typeface="TT Norms Pro Medium" pitchFamily="2" charset="0"/>
              </a:rPr>
              <a:t>→</a:t>
            </a:r>
          </a:p>
        </p:txBody>
      </p:sp>
      <p:sp>
        <p:nvSpPr>
          <p:cNvPr id="36" name="chip"/>
          <p:cNvSpPr txBox="1"/>
          <p:nvPr/>
        </p:nvSpPr>
        <p:spPr>
          <a:xfrm>
            <a:off x="8974927" y="2957030"/>
            <a:ext cx="2563927" cy="900000"/>
          </a:xfrm>
          <a:prstGeom prst="roundRect">
            <a:avLst>
              <a:gd name="adj" fmla="val 9000"/>
            </a:avLst>
          </a:prstGeom>
          <a:solidFill>
            <a:srgbClr val="127E8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400" b="0" dirty="0">
                <a:solidFill>
                  <a:srgbClr val="FFFFFF"/>
                </a:solidFill>
                <a:latin typeface="TT Norms Pro Medium" pitchFamily="2" charset="0"/>
                <a:cs typeface="TT Norms Pro Medium" pitchFamily="2" charset="0"/>
              </a:rPr>
              <a:t>Релиз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выпущено в общей сборке</a:t>
            </a:r>
          </a:p>
        </p:txBody>
      </p:sp>
      <p:sp>
        <p:nvSpPr>
          <p:cNvPr id="37" name="foot"/>
          <p:cNvSpPr txBox="1"/>
          <p:nvPr/>
        </p:nvSpPr>
        <p:spPr>
          <a:xfrm>
            <a:off x="653146" y="4117030"/>
            <a:ext cx="10885708" cy="9000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</p:spPr>
        <p:txBody>
          <a:bodyPr wrap="square" lIns="228600" tIns="45720" rIns="228600" bIns="45720" rtlCol="0" anchor="ctr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35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Спринт — цикл 1–3 недели; итог спринта — релиз общей сборки плагинов.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5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Внутри фазы GSD задание проходит: обсуждение → план → исполнение → проверка.</a:t>
            </a:r>
          </a:p>
        </p:txBody>
      </p:sp>
    </p:spTree>
    <p:extLst>
      <p:ext uri="{BB962C8B-B14F-4D97-AF65-F5344CB8AC3E}">
        <p14:creationId xmlns:p14="http://schemas.microsoft.com/office/powerpoint/2010/main" val="778782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66D300-2F8C-4786-B892-E6179CBB3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20" y="787118"/>
            <a:ext cx="315217" cy="315774"/>
          </a:xfrm>
          <a:prstGeom prst="rect">
            <a:avLst/>
          </a:prstGeom>
        </p:spPr>
      </p:pic>
      <p:sp>
        <p:nvSpPr>
          <p:cNvPr id="21" name="Heading"/>
          <p:cNvSpPr txBox="1"/>
          <p:nvPr/>
        </p:nvSpPr>
        <p:spPr>
          <a:xfrm>
            <a:off x="653146" y="1179122"/>
            <a:ext cx="10885708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Постановка задач на разработку</a:t>
            </a:r>
          </a:p>
        </p:txBody>
      </p:sp>
      <p:sp>
        <p:nvSpPr>
          <p:cNvPr id="22" name="cap"/>
          <p:cNvSpPr txBox="1"/>
          <p:nvPr/>
        </p:nvSpPr>
        <p:spPr>
          <a:xfrm>
            <a:off x="653146" y="1900000"/>
            <a:ext cx="10885708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Задания не берутся «из головы» — они фиксируются в общих документах.</a:t>
            </a:r>
          </a:p>
        </p:txBody>
      </p:sp>
      <p:sp>
        <p:nvSpPr>
          <p:cNvPr id="23" name="col1"/>
          <p:cNvSpPr txBox="1"/>
          <p:nvPr/>
        </p:nvSpPr>
        <p:spPr>
          <a:xfrm>
            <a:off x="653146" y="2380000"/>
            <a:ext cx="5262854" cy="3720000"/>
          </a:xfrm>
          <a:prstGeom prst="roundRect">
            <a:avLst>
              <a:gd name="adj" fmla="val 5000"/>
            </a:avLst>
          </a:prstGeom>
          <a:solidFill>
            <a:srgbClr val="127E8A"/>
          </a:solidFill>
          <a:ln>
            <a:noFill/>
          </a:ln>
        </p:spPr>
        <p:txBody>
          <a:bodyPr wrap="square" lIns="228600" tIns="205740" rIns="205740" bIns="45720" rtlCol="0" anchor="t"/>
          <a:lstStyle/>
          <a:p>
            <a:pPr marL="0" indent="0">
              <a:spcBef>
                <a:spcPts val="0"/>
              </a:spcBef>
              <a:spcAft>
                <a:spcPts val="60"/>
              </a:spcAft>
              <a:buNone/>
            </a:pPr>
            <a:r>
              <a:rPr lang="ru-RU" sz="1650" b="0" dirty="0">
                <a:solidFill>
                  <a:srgbClr val="FFFFFF"/>
                </a:solidFill>
                <a:latin typeface="TT Norms Pro Medium" pitchFamily="2" charset="0"/>
                <a:cs typeface="TT Norms Pro Medium" pitchFamily="2" charset="0"/>
              </a:rPr>
              <a:t>Сводный Реестр Плагинов</a:t>
            </a:r>
          </a:p>
          <a:p>
            <a:pPr marL="0" indent="0">
              <a:spcBef>
                <a:spcPts val="0"/>
              </a:spcBef>
              <a:spcAft>
                <a:spcPts val="280"/>
              </a:spcAft>
              <a:buNone/>
            </a:pPr>
            <a:r>
              <a:rPr lang="ru-RU" sz="115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Google Sheets</a:t>
            </a:r>
          </a:p>
          <a:p>
            <a:pPr marL="170000" indent="-170000">
              <a:lnSpc>
                <a:spcPct val="104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ru-RU" sz="1250" b="0" dirty="0">
                <a:solidFill>
                  <a:srgbClr val="D7E7E9"/>
                </a:solidFill>
                <a:latin typeface="TT Norms Pro Medium" pitchFamily="2" charset="0"/>
                <a:cs typeface="TT Norms Pro Medium" pitchFamily="2" charset="0"/>
              </a:rPr>
              <a:t>•  </a:t>
            </a:r>
            <a:r>
              <a:rPr lang="ru-RU" sz="125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Единый реестр всех инструментов автоматизации.</a:t>
            </a:r>
          </a:p>
          <a:p>
            <a:pPr marL="170000" indent="-170000">
              <a:lnSpc>
                <a:spcPct val="104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ru-RU" sz="1250" b="0" dirty="0">
                <a:solidFill>
                  <a:srgbClr val="D7E7E9"/>
                </a:solidFill>
                <a:latin typeface="TT Norms Pro Medium" pitchFamily="2" charset="0"/>
                <a:cs typeface="TT Norms Pro Medium" pitchFamily="2" charset="0"/>
              </a:rPr>
              <a:t>•  </a:t>
            </a:r>
            <a:r>
              <a:rPr lang="ru-RU" sz="125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Листы по типам: плагины, скрипты, сторонние.</a:t>
            </a:r>
          </a:p>
          <a:p>
            <a:pPr marL="170000" indent="-170000">
              <a:lnSpc>
                <a:spcPct val="104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ru-RU" sz="1250" b="0" dirty="0">
                <a:solidFill>
                  <a:srgbClr val="D7E7E9"/>
                </a:solidFill>
                <a:latin typeface="TT Norms Pro Medium" pitchFamily="2" charset="0"/>
                <a:cs typeface="TT Norms Pro Medium" pitchFamily="2" charset="0"/>
              </a:rPr>
              <a:t>•  </a:t>
            </a:r>
            <a:r>
              <a:rPr lang="ru-RU" sz="125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У продукта: статус, версия, ответственный.</a:t>
            </a:r>
          </a:p>
          <a:p>
            <a:pPr marL="170000" indent="-170000">
              <a:lnSpc>
                <a:spcPct val="104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ru-RU" sz="1250" b="0" dirty="0">
                <a:solidFill>
                  <a:srgbClr val="D7E7E9"/>
                </a:solidFill>
                <a:latin typeface="TT Norms Pro Medium" pitchFamily="2" charset="0"/>
                <a:cs typeface="TT Norms Pro Medium" pitchFamily="2" charset="0"/>
              </a:rPr>
              <a:t>•  </a:t>
            </a:r>
            <a:r>
              <a:rPr lang="ru-RU" sz="125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Новые идеи попадают в </a:t>
            </a:r>
            <a:r>
              <a:rPr lang="ru-RU" sz="1250" b="0" dirty="0" err="1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Backlog</a:t>
            </a:r>
            <a:r>
              <a:rPr lang="ru-RU" sz="125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.</a:t>
            </a:r>
          </a:p>
          <a:p>
            <a:pPr marL="170000" indent="-170000">
              <a:lnSpc>
                <a:spcPct val="104000"/>
              </a:lnSpc>
              <a:spcBef>
                <a:spcPts val="0"/>
              </a:spcBef>
              <a:spcAft>
                <a:spcPts val="150"/>
              </a:spcAft>
              <a:buNone/>
            </a:pPr>
            <a:endParaRPr lang="ru-RU" sz="1250" dirty="0">
              <a:solidFill>
                <a:srgbClr val="D7E7E9"/>
              </a:solidFill>
              <a:latin typeface="TT Norms Pro" pitchFamily="2" charset="0"/>
              <a:cs typeface="TT Norms Pro" pitchFamily="2" charset="0"/>
            </a:endParaRPr>
          </a:p>
          <a:p>
            <a:pPr marL="170000" indent="-170000">
              <a:lnSpc>
                <a:spcPct val="104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5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https://docs.google.com/spreadsheets/d/1HMZ4YVB-eSMmD_6hMD3yHjmaXJFfnZqy2bsx1mR-p_0/edit?gid=788153722#gid=788153722</a:t>
            </a:r>
            <a:endParaRPr lang="ru-RU" sz="1250" b="0" dirty="0">
              <a:solidFill>
                <a:srgbClr val="D7E7E9"/>
              </a:solidFill>
              <a:latin typeface="TT Norms Pro" pitchFamily="2" charset="0"/>
              <a:cs typeface="TT Norms Pro" pitchFamily="2" charset="0"/>
            </a:endParaRPr>
          </a:p>
        </p:txBody>
      </p:sp>
      <p:sp>
        <p:nvSpPr>
          <p:cNvPr id="24" name="col2"/>
          <p:cNvSpPr txBox="1"/>
          <p:nvPr/>
        </p:nvSpPr>
        <p:spPr>
          <a:xfrm>
            <a:off x="6276000" y="2380000"/>
            <a:ext cx="5262854" cy="37200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</p:spPr>
        <p:txBody>
          <a:bodyPr wrap="square" lIns="228600" tIns="205740" rIns="205740" bIns="45720" rtlCol="0" anchor="t"/>
          <a:lstStyle/>
          <a:p>
            <a:pPr marL="0" indent="0">
              <a:spcBef>
                <a:spcPts val="0"/>
              </a:spcBef>
              <a:spcAft>
                <a:spcPts val="60"/>
              </a:spcAft>
              <a:buNone/>
            </a:pPr>
            <a:r>
              <a:rPr lang="ru-RU" sz="165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Таблицы заданий</a:t>
            </a:r>
          </a:p>
          <a:p>
            <a:pPr marL="0" indent="0">
              <a:spcBef>
                <a:spcPts val="0"/>
              </a:spcBef>
              <a:spcAft>
                <a:spcPts val="280"/>
              </a:spcAft>
              <a:buNone/>
            </a:pPr>
            <a:r>
              <a:rPr lang="ru-RU" sz="115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ведут Мастера продуктов по дисциплинам</a:t>
            </a:r>
          </a:p>
          <a:p>
            <a:pPr marL="170000" indent="-170000">
              <a:lnSpc>
                <a:spcPct val="104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ru-RU" sz="125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•  </a:t>
            </a:r>
            <a:r>
              <a:rPr lang="ru-RU" sz="125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Здесь фиксируются все задания на разработку.</a:t>
            </a:r>
          </a:p>
          <a:p>
            <a:pPr marL="170000" indent="-170000">
              <a:lnSpc>
                <a:spcPct val="104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ru-RU" sz="125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•  </a:t>
            </a:r>
            <a:r>
              <a:rPr lang="ru-RU" sz="125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Поля: статус, версия релиза, группа, описание.</a:t>
            </a:r>
          </a:p>
          <a:p>
            <a:pPr marL="170000" indent="-170000">
              <a:lnSpc>
                <a:spcPct val="104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ru-RU" sz="125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•  </a:t>
            </a:r>
            <a:r>
              <a:rPr lang="ru-RU" sz="125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А также автор, даты открытия/закрытия, комментарий.</a:t>
            </a:r>
          </a:p>
          <a:p>
            <a:pPr marL="170000" indent="-170000">
              <a:lnSpc>
                <a:spcPct val="104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ru-RU" sz="125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•  </a:t>
            </a:r>
            <a:r>
              <a:rPr lang="ru-RU" sz="125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Статусы соответствуют этапам жизненного цикла.</a:t>
            </a:r>
          </a:p>
          <a:p>
            <a:pPr marL="170000" indent="-170000">
              <a:lnSpc>
                <a:spcPct val="104000"/>
              </a:lnSpc>
              <a:spcBef>
                <a:spcPts val="0"/>
              </a:spcBef>
              <a:spcAft>
                <a:spcPts val="150"/>
              </a:spcAft>
              <a:buNone/>
            </a:pPr>
            <a:endParaRPr lang="ru-RU" sz="1250" b="0" dirty="0">
              <a:solidFill>
                <a:srgbClr val="5E6A6B"/>
              </a:solidFill>
              <a:latin typeface="TT Norms Pro" pitchFamily="2" charset="0"/>
              <a:cs typeface="TT Norms Pro" pitchFamily="2" charset="0"/>
            </a:endParaRPr>
          </a:p>
          <a:p>
            <a:pPr marL="170000" indent="-170000">
              <a:lnSpc>
                <a:spcPct val="104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5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https://docs.google.com/spreadsheets/d/17LfN3aJPhXO1PNDvVvwJOsDKWOBsV9wT5wCLObebii8/edit?gid=1877441502#gid=1877441502</a:t>
            </a:r>
            <a:endParaRPr lang="ru-RU" sz="1250" b="0" dirty="0">
              <a:solidFill>
                <a:srgbClr val="5E6A6B"/>
              </a:solidFill>
              <a:latin typeface="TT Norms Pro" pitchFamily="2" charset="0"/>
              <a:cs typeface="TT Norms Pro" pitchFamily="2" charset="0"/>
            </a:endParaRPr>
          </a:p>
        </p:txBody>
      </p:sp>
      <p:sp>
        <p:nvSpPr>
          <p:cNvPr id="25" name="foot"/>
          <p:cNvSpPr txBox="1"/>
          <p:nvPr/>
        </p:nvSpPr>
        <p:spPr>
          <a:xfrm>
            <a:off x="653146" y="6180000"/>
            <a:ext cx="10885708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ТЗ формирует Мастер продукта, утверждает BIM-менеджер.</a:t>
            </a:r>
          </a:p>
        </p:txBody>
      </p:sp>
    </p:spTree>
    <p:extLst>
      <p:ext uri="{BB962C8B-B14F-4D97-AF65-F5344CB8AC3E}">
        <p14:creationId xmlns:p14="http://schemas.microsoft.com/office/powerpoint/2010/main" val="778782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66D300-2F8C-4786-B892-E6179CBB3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20" y="787118"/>
            <a:ext cx="315217" cy="315774"/>
          </a:xfrm>
          <a:prstGeom prst="rect">
            <a:avLst/>
          </a:prstGeom>
        </p:spPr>
      </p:pic>
      <p:sp>
        <p:nvSpPr>
          <p:cNvPr id="21" name="Heading"/>
          <p:cNvSpPr txBox="1"/>
          <p:nvPr/>
        </p:nvSpPr>
        <p:spPr>
          <a:xfrm>
            <a:off x="653146" y="1179122"/>
            <a:ext cx="10885708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Карта релизов → GSD</a:t>
            </a:r>
          </a:p>
        </p:txBody>
      </p:sp>
      <p:sp>
        <p:nvSpPr>
          <p:cNvPr id="22" name="left"/>
          <p:cNvSpPr txBox="1"/>
          <p:nvPr/>
        </p:nvSpPr>
        <p:spPr>
          <a:xfrm>
            <a:off x="653146" y="2020000"/>
            <a:ext cx="4571997" cy="2450000"/>
          </a:xfrm>
          <a:prstGeom prst="roundRect">
            <a:avLst>
              <a:gd name="adj" fmla="val 5000"/>
            </a:avLst>
          </a:prstGeom>
          <a:solidFill>
            <a:srgbClr val="127E8A"/>
          </a:solidFill>
          <a:ln>
            <a:noFill/>
          </a:ln>
        </p:spPr>
        <p:txBody>
          <a:bodyPr wrap="square" lIns="251460" tIns="45720" rIns="251460" bIns="45720" rtlCol="0" anchor="ctr"/>
          <a:lstStyle/>
          <a:p>
            <a:pPr marL="0" indent="0">
              <a:lnSpc>
                <a:spcPct val="108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lang="ru-RU" sz="1550" b="0" dirty="0">
                <a:solidFill>
                  <a:srgbClr val="FFFFFF"/>
                </a:solidFill>
                <a:latin typeface="TT Norms Pro Medium" pitchFamily="2" charset="0"/>
                <a:cs typeface="TT Norms Pro Medium" pitchFamily="2" charset="0"/>
              </a:rPr>
              <a:t>Карта релизов — единственный источник правды.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Задания в GSD импортируются из Карты, а не создаются вручную.</a:t>
            </a:r>
          </a:p>
        </p:txBody>
      </p:sp>
      <p:sp>
        <p:nvSpPr>
          <p:cNvPr id="23" name="maphdr"/>
          <p:cNvSpPr txBox="1"/>
          <p:nvPr/>
        </p:nvSpPr>
        <p:spPr>
          <a:xfrm>
            <a:off x="5585143" y="2020000"/>
            <a:ext cx="5953711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0" dirty="0">
                <a:solidFill>
                  <a:srgbClr val="5E6A6B"/>
                </a:solidFill>
                <a:latin typeface="TT Norms Pro Medium" pitchFamily="2" charset="0"/>
                <a:cs typeface="TT Norms Pro Medium" pitchFamily="2" charset="0"/>
              </a:rPr>
              <a:t>Карта релизов</a:t>
            </a:r>
            <a:r>
              <a:rPr lang="ru-RU" sz="125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            →            </a:t>
            </a:r>
            <a:r>
              <a:rPr lang="ru-RU" sz="1250" b="0" dirty="0">
                <a:solidFill>
                  <a:srgbClr val="5E6A6B"/>
                </a:solidFill>
                <a:latin typeface="TT Norms Pro Medium" pitchFamily="2" charset="0"/>
                <a:cs typeface="TT Norms Pro Medium" pitchFamily="2" charset="0"/>
              </a:rPr>
              <a:t>GSD</a:t>
            </a:r>
          </a:p>
        </p:txBody>
      </p:sp>
      <p:sp>
        <p:nvSpPr>
          <p:cNvPr id="24" name="row"/>
          <p:cNvSpPr txBox="1"/>
          <p:nvPr/>
        </p:nvSpPr>
        <p:spPr>
          <a:xfrm>
            <a:off x="5585143" y="2360000"/>
            <a:ext cx="5953711" cy="490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</p:spPr>
        <p:txBody>
          <a:bodyPr wrap="square" lIns="182880" tIns="45720" rIns="137160" bIns="45720" rtlCol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Цикл релизов</a:t>
            </a:r>
            <a:r>
              <a:rPr lang="ru-RU" sz="125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   →   </a:t>
            </a:r>
            <a:r>
              <a:rPr lang="ru-RU" sz="1250" b="0" dirty="0">
                <a:solidFill>
                  <a:srgbClr val="0C5A64"/>
                </a:solidFill>
                <a:latin typeface="TT Norms Pro Medium" pitchFamily="2" charset="0"/>
                <a:cs typeface="TT Norms Pro Medium" pitchFamily="2" charset="0"/>
              </a:rPr>
              <a:t>Milestone</a:t>
            </a:r>
          </a:p>
        </p:txBody>
      </p:sp>
      <p:sp>
        <p:nvSpPr>
          <p:cNvPr id="25" name="row"/>
          <p:cNvSpPr txBox="1"/>
          <p:nvPr/>
        </p:nvSpPr>
        <p:spPr>
          <a:xfrm>
            <a:off x="5585143" y="2890000"/>
            <a:ext cx="5953711" cy="490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</p:spPr>
        <p:txBody>
          <a:bodyPr wrap="square" lIns="182880" tIns="45720" rIns="137160" bIns="45720" rtlCol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Версия релиза vYYMMDD</a:t>
            </a:r>
            <a:r>
              <a:rPr lang="ru-RU" sz="125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   →   </a:t>
            </a:r>
            <a:r>
              <a:rPr lang="ru-RU" sz="1250" b="0" dirty="0">
                <a:solidFill>
                  <a:srgbClr val="0C5A64"/>
                </a:solidFill>
                <a:latin typeface="TT Norms Pro Medium" pitchFamily="2" charset="0"/>
                <a:cs typeface="TT Norms Pro Medium" pitchFamily="2" charset="0"/>
              </a:rPr>
              <a:t>Фаза GSD</a:t>
            </a:r>
          </a:p>
        </p:txBody>
      </p:sp>
      <p:sp>
        <p:nvSpPr>
          <p:cNvPr id="26" name="row"/>
          <p:cNvSpPr txBox="1"/>
          <p:nvPr/>
        </p:nvSpPr>
        <p:spPr>
          <a:xfrm>
            <a:off x="5585143" y="3420000"/>
            <a:ext cx="5953711" cy="490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</p:spPr>
        <p:txBody>
          <a:bodyPr wrap="square" lIns="182880" tIns="45720" rIns="137160" bIns="45720" rtlCol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Задание (ID)</a:t>
            </a:r>
            <a:r>
              <a:rPr lang="ru-RU" sz="125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   →   </a:t>
            </a:r>
            <a:r>
              <a:rPr lang="ru-RU" sz="1250" b="0" dirty="0">
                <a:solidFill>
                  <a:srgbClr val="0C5A64"/>
                </a:solidFill>
                <a:latin typeface="TT Norms Pro Medium" pitchFamily="2" charset="0"/>
                <a:cs typeface="TT Norms Pro Medium" pitchFamily="2" charset="0"/>
              </a:rPr>
              <a:t>Требование REQ-&lt;ID&gt;</a:t>
            </a:r>
          </a:p>
        </p:txBody>
      </p:sp>
      <p:sp>
        <p:nvSpPr>
          <p:cNvPr id="27" name="row"/>
          <p:cNvSpPr txBox="1"/>
          <p:nvPr/>
        </p:nvSpPr>
        <p:spPr>
          <a:xfrm>
            <a:off x="5585143" y="3950000"/>
            <a:ext cx="5953711" cy="490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</p:spPr>
        <p:txBody>
          <a:bodyPr wrap="square" lIns="182880" tIns="45720" rIns="137160" bIns="45720" rtlCol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Первые 3 цифры ID</a:t>
            </a:r>
            <a:r>
              <a:rPr lang="ru-RU" sz="125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   →   </a:t>
            </a:r>
            <a:r>
              <a:rPr lang="ru-RU" sz="1250" b="0" dirty="0">
                <a:solidFill>
                  <a:srgbClr val="0C5A64"/>
                </a:solidFill>
                <a:latin typeface="TT Norms Pro Medium" pitchFamily="2" charset="0"/>
                <a:cs typeface="TT Norms Pro Medium" pitchFamily="2" charset="0"/>
              </a:rPr>
              <a:t>Идентификатор плагина </a:t>
            </a:r>
            <a:r>
              <a:rPr lang="en-US" sz="1250" b="0" dirty="0">
                <a:solidFill>
                  <a:srgbClr val="0C5A64"/>
                </a:solidFill>
                <a:latin typeface="TT Norms Pro Medium" pitchFamily="2" charset="0"/>
                <a:cs typeface="TT Norms Pro Medium" pitchFamily="2" charset="0"/>
              </a:rPr>
              <a:t>PID</a:t>
            </a:r>
            <a:endParaRPr lang="ru-RU" sz="1250" b="0" dirty="0">
              <a:solidFill>
                <a:srgbClr val="0C5A64"/>
              </a:solidFill>
              <a:latin typeface="TT Norms Pro Medium" pitchFamily="2" charset="0"/>
              <a:cs typeface="TT Norms Pro Medium" pitchFamily="2" charset="0"/>
            </a:endParaRPr>
          </a:p>
        </p:txBody>
      </p:sp>
      <p:sp>
        <p:nvSpPr>
          <p:cNvPr id="28" name="band"/>
          <p:cNvSpPr txBox="1"/>
          <p:nvPr/>
        </p:nvSpPr>
        <p:spPr>
          <a:xfrm>
            <a:off x="653146" y="4710000"/>
            <a:ext cx="10885708" cy="900000"/>
          </a:xfrm>
          <a:prstGeom prst="roundRect">
            <a:avLst>
              <a:gd name="adj" fmla="val 4000"/>
            </a:avLst>
          </a:prstGeom>
          <a:solidFill>
            <a:srgbClr val="E7ECEC"/>
          </a:solidFill>
          <a:ln>
            <a:noFill/>
          </a:ln>
        </p:spPr>
        <p:txBody>
          <a:bodyPr wrap="square" lIns="228600" tIns="45720" rIns="228600" bIns="45720" rtlCol="0" anchor="ctr"/>
          <a:lstStyle/>
          <a:p>
            <a:pPr marL="0" indent="0">
              <a:spcBef>
                <a:spcPts val="0"/>
              </a:spcBef>
              <a:spcAft>
                <a:spcPts val="170"/>
              </a:spcAft>
              <a:buNone/>
            </a:pPr>
            <a:r>
              <a:rPr lang="ru-RU" sz="135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Команда «</a:t>
            </a:r>
            <a:r>
              <a:rPr lang="en-US" sz="135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/</a:t>
            </a:r>
            <a:r>
              <a:rPr lang="en-US" sz="135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mm-save-session</a:t>
            </a:r>
            <a:r>
              <a:rPr lang="ru-RU" sz="135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»</a:t>
            </a:r>
            <a:endParaRPr lang="en-US" sz="1300" dirty="0">
              <a:solidFill>
                <a:srgbClr val="0C5A64"/>
              </a:solidFill>
              <a:latin typeface="Courier New" pitchFamily="2" charset="0"/>
              <a:cs typeface="Courier New" pitchFamily="2" charset="0"/>
            </a:endParaRPr>
          </a:p>
          <a:p>
            <a:pPr marL="0" indent="0">
              <a:spcBef>
                <a:spcPts val="0"/>
              </a:spcBef>
              <a:spcAft>
                <a:spcPts val="170"/>
              </a:spcAft>
              <a:buNone/>
            </a:pPr>
            <a:r>
              <a:rPr lang="ru-RU" sz="125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Генерирует ROADMAP.md, REQUIREMENTS.md, release-map.json. Статусы: Не начато → В работе → Готово → Релиз (откат запрещён).</a:t>
            </a:r>
          </a:p>
        </p:txBody>
      </p:sp>
    </p:spTree>
    <p:extLst>
      <p:ext uri="{BB962C8B-B14F-4D97-AF65-F5344CB8AC3E}">
        <p14:creationId xmlns:p14="http://schemas.microsoft.com/office/powerpoint/2010/main" val="778782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66D300-2F8C-4786-B892-E6179CBB3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20" y="787118"/>
            <a:ext cx="315217" cy="315774"/>
          </a:xfrm>
          <a:prstGeom prst="rect">
            <a:avLst/>
          </a:prstGeom>
        </p:spPr>
      </p:pic>
      <p:sp>
        <p:nvSpPr>
          <p:cNvPr id="21" name="Heading"/>
          <p:cNvSpPr txBox="1"/>
          <p:nvPr/>
        </p:nvSpPr>
        <p:spPr>
          <a:xfrm>
            <a:off x="653146" y="1179122"/>
            <a:ext cx="10885708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Основные инструменты GSD</a:t>
            </a:r>
          </a:p>
        </p:txBody>
      </p:sp>
      <p:sp>
        <p:nvSpPr>
          <p:cNvPr id="22" name="gcard"/>
          <p:cNvSpPr txBox="1"/>
          <p:nvPr/>
        </p:nvSpPr>
        <p:spPr>
          <a:xfrm>
            <a:off x="653146" y="2020000"/>
            <a:ext cx="5292854" cy="17400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>
            <a:noFill/>
          </a:ln>
        </p:spPr>
        <p:txBody>
          <a:bodyPr wrap="square" lIns="228600" tIns="182880" rIns="182880" bIns="45720" rtlCol="0" anchor="t"/>
          <a:lstStyle/>
          <a:p>
            <a:pPr marL="0" indent="0">
              <a:spcBef>
                <a:spcPts val="0"/>
              </a:spcBef>
              <a:spcAft>
                <a:spcPts val="250"/>
              </a:spcAft>
              <a:buNone/>
            </a:pPr>
            <a:r>
              <a:rPr lang="ru-RU" sz="1550" b="0" dirty="0">
                <a:solidFill>
                  <a:srgbClr val="0C5A64"/>
                </a:solidFill>
                <a:latin typeface="Courier New" pitchFamily="2" charset="0"/>
                <a:cs typeface="Courier New" pitchFamily="2" charset="0"/>
              </a:rPr>
              <a:t>/</a:t>
            </a:r>
            <a:r>
              <a:rPr lang="ru-RU" sz="1550" b="0" dirty="0" err="1">
                <a:solidFill>
                  <a:srgbClr val="0C5A64"/>
                </a:solidFill>
                <a:latin typeface="Courier New" pitchFamily="2" charset="0"/>
                <a:cs typeface="Courier New" pitchFamily="2" charset="0"/>
              </a:rPr>
              <a:t>gsd-discuss-phase</a:t>
            </a:r>
            <a:endParaRPr lang="ru-RU" sz="1550" b="0" dirty="0">
              <a:solidFill>
                <a:srgbClr val="0C5A64"/>
              </a:solidFill>
              <a:latin typeface="Courier New" pitchFamily="2" charset="0"/>
              <a:cs typeface="Courier New" pitchFamily="2" charset="0"/>
            </a:endParaRPr>
          </a:p>
          <a:p>
            <a:pPr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Собрать контекст фазы вопросами перед планированием.</a:t>
            </a:r>
          </a:p>
        </p:txBody>
      </p:sp>
      <p:sp>
        <p:nvSpPr>
          <p:cNvPr id="23" name="gcard"/>
          <p:cNvSpPr txBox="1"/>
          <p:nvPr/>
        </p:nvSpPr>
        <p:spPr>
          <a:xfrm>
            <a:off x="6246000" y="2020000"/>
            <a:ext cx="5292854" cy="17400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>
            <a:noFill/>
          </a:ln>
        </p:spPr>
        <p:txBody>
          <a:bodyPr wrap="square" lIns="228600" tIns="182880" rIns="182880" bIns="45720" rtlCol="0" anchor="t"/>
          <a:lstStyle/>
          <a:p>
            <a:pPr marL="0" indent="0">
              <a:spcBef>
                <a:spcPts val="0"/>
              </a:spcBef>
              <a:spcAft>
                <a:spcPts val="250"/>
              </a:spcAft>
              <a:buNone/>
            </a:pPr>
            <a:r>
              <a:rPr lang="ru-RU" sz="1550" b="0" dirty="0">
                <a:solidFill>
                  <a:srgbClr val="0C5A64"/>
                </a:solidFill>
                <a:latin typeface="Courier New" pitchFamily="2" charset="0"/>
                <a:cs typeface="Courier New" pitchFamily="2" charset="0"/>
              </a:rPr>
              <a:t>/gsd-plan-phase N</a:t>
            </a:r>
          </a:p>
          <a:p>
            <a:pPr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Создать детальный план фазы (PLAN.md) с проверкой.</a:t>
            </a:r>
          </a:p>
        </p:txBody>
      </p:sp>
      <p:sp>
        <p:nvSpPr>
          <p:cNvPr id="24" name="gcard"/>
          <p:cNvSpPr txBox="1"/>
          <p:nvPr/>
        </p:nvSpPr>
        <p:spPr>
          <a:xfrm>
            <a:off x="653146" y="4040000"/>
            <a:ext cx="5292854" cy="17400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>
            <a:noFill/>
          </a:ln>
        </p:spPr>
        <p:txBody>
          <a:bodyPr wrap="square" lIns="228600" tIns="182880" rIns="182880" bIns="45720" rtlCol="0" anchor="t"/>
          <a:lstStyle/>
          <a:p>
            <a:pPr marL="0" indent="0">
              <a:spcBef>
                <a:spcPts val="0"/>
              </a:spcBef>
              <a:spcAft>
                <a:spcPts val="250"/>
              </a:spcAft>
              <a:buNone/>
            </a:pPr>
            <a:r>
              <a:rPr lang="ru-RU" sz="1550" b="0" dirty="0">
                <a:solidFill>
                  <a:srgbClr val="0C5A64"/>
                </a:solidFill>
                <a:latin typeface="Courier New" pitchFamily="2" charset="0"/>
                <a:cs typeface="Courier New" pitchFamily="2" charset="0"/>
              </a:rPr>
              <a:t>/gsd-execute-phase N</a:t>
            </a:r>
          </a:p>
          <a:p>
            <a:pPr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Исполнить все планы фазы — параллельно, волнами.</a:t>
            </a:r>
          </a:p>
        </p:txBody>
      </p:sp>
      <p:sp>
        <p:nvSpPr>
          <p:cNvPr id="25" name="gcard"/>
          <p:cNvSpPr txBox="1"/>
          <p:nvPr/>
        </p:nvSpPr>
        <p:spPr>
          <a:xfrm>
            <a:off x="6246000" y="4040000"/>
            <a:ext cx="5292854" cy="17400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>
            <a:noFill/>
          </a:ln>
        </p:spPr>
        <p:txBody>
          <a:bodyPr wrap="square" lIns="228600" tIns="182880" rIns="182880" bIns="45720" rtlCol="0" anchor="t"/>
          <a:lstStyle/>
          <a:p>
            <a:pPr marL="0" indent="0">
              <a:spcBef>
                <a:spcPts val="0"/>
              </a:spcBef>
              <a:spcAft>
                <a:spcPts val="250"/>
              </a:spcAft>
              <a:buNone/>
            </a:pPr>
            <a:r>
              <a:rPr lang="ru-RU" sz="1550" b="0" dirty="0">
                <a:solidFill>
                  <a:srgbClr val="0C5A64"/>
                </a:solidFill>
                <a:latin typeface="Courier New" pitchFamily="2" charset="0"/>
                <a:cs typeface="Courier New" pitchFamily="2" charset="0"/>
              </a:rPr>
              <a:t>/gsd-validate-phase N</a:t>
            </a:r>
          </a:p>
          <a:p>
            <a:pPr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Аудит и закрытие пробелов проверки завершённой фазы.</a:t>
            </a:r>
          </a:p>
        </p:txBody>
      </p:sp>
      <p:sp>
        <p:nvSpPr>
          <p:cNvPr id="27" name="foot"/>
          <p:cNvSpPr txBox="1"/>
          <p:nvPr/>
        </p:nvSpPr>
        <p:spPr>
          <a:xfrm>
            <a:off x="653146" y="6030000"/>
            <a:ext cx="10885708" cy="650000"/>
          </a:xfrm>
          <a:prstGeom prst="roundRect">
            <a:avLst>
              <a:gd name="adj" fmla="val 4000"/>
            </a:avLst>
          </a:prstGeom>
          <a:solidFill>
            <a:srgbClr val="127E8A"/>
          </a:solidFill>
          <a:ln>
            <a:noFill/>
          </a:ln>
        </p:spPr>
        <p:txBody>
          <a:bodyPr wrap="square" lIns="228600" tIns="45720" rIns="228600" bIns="45720" rtlCol="0" anchor="ctr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dirty="0">
                <a:solidFill>
                  <a:srgbClr val="FFFFFF"/>
                </a:solidFill>
                <a:latin typeface="TT Norms Pro Medium" pitchFamily="2" charset="0"/>
                <a:cs typeface="TT Norms Pro Medium" pitchFamily="2" charset="0"/>
              </a:rPr>
              <a:t>Дополнительно:  </a:t>
            </a:r>
            <a:r>
              <a:rPr lang="ru-RU" sz="1250" b="0" dirty="0">
                <a:solidFill>
                  <a:srgbClr val="D7E7E9"/>
                </a:solidFill>
                <a:latin typeface="Courier New" pitchFamily="2" charset="0"/>
                <a:cs typeface="Courier New" pitchFamily="2" charset="0"/>
              </a:rPr>
              <a:t>/gsd-verify-work N</a:t>
            </a:r>
            <a:r>
              <a:rPr lang="ru-RU" sz="125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 — проверка результата (UAT);   </a:t>
            </a:r>
            <a:r>
              <a:rPr lang="ru-RU" sz="1250" b="0" dirty="0">
                <a:solidFill>
                  <a:srgbClr val="D7E7E9"/>
                </a:solidFill>
                <a:latin typeface="Courier New" pitchFamily="2" charset="0"/>
                <a:cs typeface="Courier New" pitchFamily="2" charset="0"/>
              </a:rPr>
              <a:t>/gsd-ship</a:t>
            </a:r>
            <a:r>
              <a:rPr lang="ru-RU" sz="125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 — PR, ревью и выпуск.</a:t>
            </a:r>
          </a:p>
        </p:txBody>
      </p:sp>
    </p:spTree>
    <p:extLst>
      <p:ext uri="{BB962C8B-B14F-4D97-AF65-F5344CB8AC3E}">
        <p14:creationId xmlns:p14="http://schemas.microsoft.com/office/powerpoint/2010/main" val="778782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66D300-2F8C-4786-B892-E6179CBB3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20" y="787118"/>
            <a:ext cx="315217" cy="315774"/>
          </a:xfrm>
          <a:prstGeom prst="rect">
            <a:avLst/>
          </a:prstGeom>
        </p:spPr>
      </p:pic>
      <p:sp>
        <p:nvSpPr>
          <p:cNvPr id="21" name="Heading"/>
          <p:cNvSpPr txBox="1"/>
          <p:nvPr/>
        </p:nvSpPr>
        <p:spPr>
          <a:xfrm>
            <a:off x="653146" y="1179122"/>
            <a:ext cx="10885708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Поток разработки по шагам (Регламент 8.2.1)</a:t>
            </a:r>
          </a:p>
        </p:txBody>
      </p:sp>
      <p:sp>
        <p:nvSpPr>
          <p:cNvPr id="22" name="num"/>
          <p:cNvSpPr txBox="1"/>
          <p:nvPr/>
        </p:nvSpPr>
        <p:spPr>
          <a:xfrm>
            <a:off x="653146" y="2225000"/>
            <a:ext cx="560000" cy="560000"/>
          </a:xfrm>
          <a:prstGeom prst="ellipse">
            <a:avLst/>
          </a:prstGeom>
          <a:solidFill>
            <a:srgbClr val="127E8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dirty="0">
                <a:solidFill>
                  <a:srgbClr val="FFFFFF"/>
                </a:solidFill>
                <a:latin typeface="TT Norms Pro Medium" pitchFamily="2" charset="0"/>
                <a:cs typeface="TT Norms Pro Medium" pitchFamily="2" charset="0"/>
              </a:rPr>
              <a:t>1</a:t>
            </a:r>
          </a:p>
        </p:txBody>
      </p:sp>
      <p:sp>
        <p:nvSpPr>
          <p:cNvPr id="23" name="step"/>
          <p:cNvSpPr txBox="1"/>
          <p:nvPr/>
        </p:nvSpPr>
        <p:spPr>
          <a:xfrm>
            <a:off x="1513146" y="2020000"/>
            <a:ext cx="10025708" cy="9700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>
            <a:noFill/>
          </a:ln>
        </p:spPr>
        <p:txBody>
          <a:bodyPr wrap="square" lIns="228600" tIns="45720" rIns="182880" bIns="45720" rtlCol="0" anchor="ctr"/>
          <a:lstStyle/>
          <a:p>
            <a:pPr marL="0" indent="0">
              <a:spcBef>
                <a:spcPts val="0"/>
              </a:spcBef>
              <a:spcAft>
                <a:spcPts val="170"/>
              </a:spcAft>
              <a:buNone/>
            </a:pPr>
            <a:r>
              <a:rPr lang="ru-RU" sz="165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Обновить Карту релизов</a:t>
            </a:r>
          </a:p>
          <a:p>
            <a: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dirty="0">
                <a:solidFill>
                  <a:srgbClr val="0C5A64"/>
                </a:solidFill>
                <a:latin typeface="Courier New" pitchFamily="2" charset="0"/>
                <a:cs typeface="Courier New" pitchFamily="2" charset="0"/>
              </a:rPr>
              <a:t>Экспорт CSV  →  «</a:t>
            </a:r>
            <a:r>
              <a:rPr lang="en-US" sz="1300" b="0" dirty="0">
                <a:solidFill>
                  <a:srgbClr val="0C5A64"/>
                </a:solidFill>
                <a:latin typeface="Courier New" pitchFamily="2" charset="0"/>
                <a:cs typeface="Courier New" pitchFamily="2" charset="0"/>
              </a:rPr>
              <a:t>/mm-save-session</a:t>
            </a:r>
            <a:r>
              <a:rPr lang="ru-RU" sz="1300" b="0" dirty="0">
                <a:solidFill>
                  <a:srgbClr val="0C5A64"/>
                </a:solidFill>
                <a:latin typeface="Courier New" pitchFamily="2" charset="0"/>
                <a:cs typeface="Courier New" pitchFamily="2" charset="0"/>
              </a:rPr>
              <a:t>» (check + sync-docs)  →  коммит.</a:t>
            </a:r>
          </a:p>
        </p:txBody>
      </p:sp>
      <p:sp>
        <p:nvSpPr>
          <p:cNvPr id="24" name="num"/>
          <p:cNvSpPr txBox="1"/>
          <p:nvPr/>
        </p:nvSpPr>
        <p:spPr>
          <a:xfrm>
            <a:off x="653146" y="3365000"/>
            <a:ext cx="560000" cy="560000"/>
          </a:xfrm>
          <a:prstGeom prst="ellipse">
            <a:avLst/>
          </a:prstGeom>
          <a:solidFill>
            <a:srgbClr val="127E8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dirty="0">
                <a:solidFill>
                  <a:srgbClr val="FFFFFF"/>
                </a:solidFill>
                <a:latin typeface="TT Norms Pro Medium" pitchFamily="2" charset="0"/>
                <a:cs typeface="TT Norms Pro Medium" pitchFamily="2" charset="0"/>
              </a:rPr>
              <a:t>2</a:t>
            </a:r>
          </a:p>
        </p:txBody>
      </p:sp>
      <p:sp>
        <p:nvSpPr>
          <p:cNvPr id="25" name="step"/>
          <p:cNvSpPr txBox="1"/>
          <p:nvPr/>
        </p:nvSpPr>
        <p:spPr>
          <a:xfrm>
            <a:off x="1513146" y="3160000"/>
            <a:ext cx="10025708" cy="9700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>
            <a:noFill/>
          </a:ln>
        </p:spPr>
        <p:txBody>
          <a:bodyPr wrap="square" lIns="228600" tIns="45720" rIns="182880" bIns="45720" rtlCol="0" anchor="ctr"/>
          <a:lstStyle/>
          <a:p>
            <a:pPr marL="0" indent="0">
              <a:spcBef>
                <a:spcPts val="0"/>
              </a:spcBef>
              <a:spcAft>
                <a:spcPts val="170"/>
              </a:spcAft>
              <a:buNone/>
            </a:pPr>
            <a:r>
              <a:rPr lang="ru-RU" sz="165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Старт фазы</a:t>
            </a:r>
          </a:p>
          <a:p>
            <a: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dirty="0">
                <a:solidFill>
                  <a:srgbClr val="0C5A64"/>
                </a:solidFill>
                <a:latin typeface="Courier New" pitchFamily="2" charset="0"/>
                <a:cs typeface="Courier New" pitchFamily="2" charset="0"/>
              </a:rPr>
              <a:t>Статусы «В работе»  →  /gsd-plan-phase N  →  /gsd-execute-phase N.</a:t>
            </a:r>
          </a:p>
        </p:txBody>
      </p:sp>
      <p:sp>
        <p:nvSpPr>
          <p:cNvPr id="26" name="num"/>
          <p:cNvSpPr txBox="1"/>
          <p:nvPr/>
        </p:nvSpPr>
        <p:spPr>
          <a:xfrm>
            <a:off x="653146" y="4505000"/>
            <a:ext cx="560000" cy="560000"/>
          </a:xfrm>
          <a:prstGeom prst="ellipse">
            <a:avLst/>
          </a:prstGeom>
          <a:solidFill>
            <a:srgbClr val="127E8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dirty="0">
                <a:solidFill>
                  <a:srgbClr val="FFFFFF"/>
                </a:solidFill>
                <a:latin typeface="TT Norms Pro Medium" pitchFamily="2" charset="0"/>
                <a:cs typeface="TT Norms Pro Medium" pitchFamily="2" charset="0"/>
              </a:rPr>
              <a:t>3</a:t>
            </a:r>
          </a:p>
        </p:txBody>
      </p:sp>
      <p:sp>
        <p:nvSpPr>
          <p:cNvPr id="27" name="step"/>
          <p:cNvSpPr txBox="1"/>
          <p:nvPr/>
        </p:nvSpPr>
        <p:spPr>
          <a:xfrm>
            <a:off x="1513146" y="4300000"/>
            <a:ext cx="10025708" cy="9700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>
            <a:noFill/>
          </a:ln>
        </p:spPr>
        <p:txBody>
          <a:bodyPr wrap="square" lIns="228600" tIns="45720" rIns="182880" bIns="45720" rtlCol="0" anchor="ctr"/>
          <a:lstStyle/>
          <a:p>
            <a:pPr marL="0" indent="0">
              <a:spcBef>
                <a:spcPts val="0"/>
              </a:spcBef>
              <a:spcAft>
                <a:spcPts val="170"/>
              </a:spcAft>
              <a:buNone/>
            </a:pPr>
            <a:r>
              <a:rPr lang="ru-RU" sz="165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Завершение заданий</a:t>
            </a:r>
          </a:p>
          <a:p>
            <a: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dirty="0">
                <a:solidFill>
                  <a:srgbClr val="0C5A64"/>
                </a:solidFill>
                <a:latin typeface="Courier New" pitchFamily="2" charset="0"/>
                <a:cs typeface="Courier New" pitchFamily="2" charset="0"/>
              </a:rPr>
              <a:t>По каждому реализованному заданию — статус «Готово».</a:t>
            </a:r>
          </a:p>
        </p:txBody>
      </p:sp>
      <p:sp>
        <p:nvSpPr>
          <p:cNvPr id="28" name="num"/>
          <p:cNvSpPr txBox="1"/>
          <p:nvPr/>
        </p:nvSpPr>
        <p:spPr>
          <a:xfrm>
            <a:off x="653146" y="5645000"/>
            <a:ext cx="560000" cy="560000"/>
          </a:xfrm>
          <a:prstGeom prst="ellipse">
            <a:avLst/>
          </a:prstGeom>
          <a:solidFill>
            <a:srgbClr val="127E8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dirty="0">
                <a:solidFill>
                  <a:srgbClr val="FFFFFF"/>
                </a:solidFill>
                <a:latin typeface="TT Norms Pro Medium" pitchFamily="2" charset="0"/>
                <a:cs typeface="TT Norms Pro Medium" pitchFamily="2" charset="0"/>
              </a:rPr>
              <a:t>4</a:t>
            </a:r>
          </a:p>
        </p:txBody>
      </p:sp>
      <p:sp>
        <p:nvSpPr>
          <p:cNvPr id="29" name="step"/>
          <p:cNvSpPr txBox="1"/>
          <p:nvPr/>
        </p:nvSpPr>
        <p:spPr>
          <a:xfrm>
            <a:off x="1513146" y="5440000"/>
            <a:ext cx="10025708" cy="9700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>
            <a:noFill/>
          </a:ln>
        </p:spPr>
        <p:txBody>
          <a:bodyPr wrap="square" lIns="228600" tIns="45720" rIns="182880" bIns="45720" rtlCol="0" anchor="ctr"/>
          <a:lstStyle/>
          <a:p>
            <a:pPr marL="0" indent="0">
              <a:spcBef>
                <a:spcPts val="0"/>
              </a:spcBef>
              <a:spcAft>
                <a:spcPts val="170"/>
              </a:spcAft>
              <a:buNone/>
            </a:pPr>
            <a:r>
              <a:rPr lang="ru-RU" sz="165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Проверка и выпуск</a:t>
            </a:r>
          </a:p>
          <a:p>
            <a: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dirty="0">
                <a:solidFill>
                  <a:srgbClr val="0C5A64"/>
                </a:solidFill>
                <a:latin typeface="Courier New" pitchFamily="2" charset="0"/>
                <a:cs typeface="Courier New" pitchFamily="2" charset="0"/>
              </a:rPr>
              <a:t>/gsd-verify-work N  →  статус «Релиз»  →  /gsd-ship  →  выгрузить output/ обратно.</a:t>
            </a:r>
          </a:p>
        </p:txBody>
      </p:sp>
    </p:spTree>
    <p:extLst>
      <p:ext uri="{BB962C8B-B14F-4D97-AF65-F5344CB8AC3E}">
        <p14:creationId xmlns:p14="http://schemas.microsoft.com/office/powerpoint/2010/main" val="778782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66D300-2F8C-4786-B892-E6179CBB3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20" y="787118"/>
            <a:ext cx="315217" cy="315774"/>
          </a:xfrm>
          <a:prstGeom prst="rect">
            <a:avLst/>
          </a:prstGeom>
        </p:spPr>
      </p:pic>
      <p:sp>
        <p:nvSpPr>
          <p:cNvPr id="21" name="Heading"/>
          <p:cNvSpPr txBox="1"/>
          <p:nvPr/>
        </p:nvSpPr>
        <p:spPr>
          <a:xfrm>
            <a:off x="653146" y="1179122"/>
            <a:ext cx="10885708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Сохранение сессии, коммит и GitHub</a:t>
            </a:r>
          </a:p>
        </p:txBody>
      </p:sp>
      <p:sp>
        <p:nvSpPr>
          <p:cNvPr id="22" name="col1"/>
          <p:cNvSpPr txBox="1"/>
          <p:nvPr/>
        </p:nvSpPr>
        <p:spPr>
          <a:xfrm>
            <a:off x="653146" y="2040000"/>
            <a:ext cx="5262854" cy="3900000"/>
          </a:xfrm>
          <a:prstGeom prst="roundRect">
            <a:avLst>
              <a:gd name="adj" fmla="val 5000"/>
            </a:avLst>
          </a:prstGeom>
          <a:solidFill>
            <a:srgbClr val="127E8A"/>
          </a:solidFill>
          <a:ln>
            <a:noFill/>
          </a:ln>
        </p:spPr>
        <p:txBody>
          <a:bodyPr wrap="square" lIns="228600" tIns="205740" rIns="205740" bIns="45720" rtlCol="0" anchor="t"/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600" b="0" dirty="0">
                <a:solidFill>
                  <a:srgbClr val="FFFFFF"/>
                </a:solidFill>
                <a:latin typeface="TT Norms Pro Medium" pitchFamily="2" charset="0"/>
                <a:cs typeface="TT Norms Pro Medium" pitchFamily="2" charset="0"/>
              </a:rPr>
              <a:t>Команда «</a:t>
            </a:r>
            <a:r>
              <a:rPr lang="en-US" sz="1600" b="0" dirty="0">
                <a:solidFill>
                  <a:srgbClr val="FFFFFF"/>
                </a:solidFill>
                <a:latin typeface="TT Norms Pro Medium" pitchFamily="2" charset="0"/>
                <a:cs typeface="TT Norms Pro Medium" pitchFamily="2" charset="0"/>
              </a:rPr>
              <a:t>/mm-save-session</a:t>
            </a:r>
            <a:r>
              <a:rPr lang="ru-RU" sz="1600" b="0" dirty="0">
                <a:solidFill>
                  <a:srgbClr val="FFFFFF"/>
                </a:solidFill>
                <a:latin typeface="TT Norms Pro Medium" pitchFamily="2" charset="0"/>
                <a:cs typeface="TT Norms Pro Medium" pitchFamily="2" charset="0"/>
              </a:rPr>
              <a:t>»</a:t>
            </a:r>
          </a:p>
          <a:p>
            <a:pPr marL="170000" indent="-170000">
              <a:lnSpc>
                <a:spcPct val="106000"/>
              </a:lnSpc>
              <a:spcBef>
                <a:spcPts val="0"/>
              </a:spcBef>
              <a:spcAft>
                <a:spcPts val="170"/>
              </a:spcAft>
              <a:buNone/>
            </a:pPr>
            <a:r>
              <a:rPr lang="ru-RU" sz="1250" b="0" dirty="0">
                <a:solidFill>
                  <a:srgbClr val="D7E7E9"/>
                </a:solidFill>
                <a:latin typeface="TT Norms Pro Medium" pitchFamily="2" charset="0"/>
                <a:cs typeface="TT Norms Pro Medium" pitchFamily="2" charset="0"/>
              </a:rPr>
              <a:t>•  </a:t>
            </a:r>
            <a:r>
              <a:rPr lang="ru-RU" sz="125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Заметка в MMLabs_OBSIDIAN/sessions/ с датой.</a:t>
            </a:r>
          </a:p>
          <a:p>
            <a:pPr marL="170000" indent="-170000">
              <a:lnSpc>
                <a:spcPct val="106000"/>
              </a:lnSpc>
              <a:spcBef>
                <a:spcPts val="0"/>
              </a:spcBef>
              <a:spcAft>
                <a:spcPts val="170"/>
              </a:spcAft>
              <a:buNone/>
            </a:pPr>
            <a:r>
              <a:rPr lang="ru-RU" sz="1250" b="0" dirty="0">
                <a:solidFill>
                  <a:srgbClr val="D7E7E9"/>
                </a:solidFill>
                <a:latin typeface="TT Norms Pro Medium" pitchFamily="2" charset="0"/>
                <a:cs typeface="TT Norms Pro Medium" pitchFamily="2" charset="0"/>
              </a:rPr>
              <a:t>•  </a:t>
            </a:r>
            <a:r>
              <a:rPr lang="ru-RU" sz="125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Обновить 00-home/текущие приоритеты.md.</a:t>
            </a:r>
          </a:p>
          <a:p>
            <a:pPr marL="170000" indent="-170000">
              <a:lnSpc>
                <a:spcPct val="106000"/>
              </a:lnSpc>
              <a:spcBef>
                <a:spcPts val="0"/>
              </a:spcBef>
              <a:spcAft>
                <a:spcPts val="170"/>
              </a:spcAft>
              <a:buNone/>
            </a:pPr>
            <a:r>
              <a:rPr lang="ru-RU" sz="1250" b="0" dirty="0">
                <a:solidFill>
                  <a:srgbClr val="D7E7E9"/>
                </a:solidFill>
                <a:latin typeface="TT Norms Pro Medium" pitchFamily="2" charset="0"/>
                <a:cs typeface="TT Norms Pro Medium" pitchFamily="2" charset="0"/>
              </a:rPr>
              <a:t>•  </a:t>
            </a:r>
            <a:r>
              <a:rPr lang="ru-RU" sz="125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Решение → knowledge/decisions/, баг → knowledge/debugging/.</a:t>
            </a:r>
          </a:p>
          <a:p>
            <a:pPr marL="170000" indent="-170000">
              <a:lnSpc>
                <a:spcPct val="106000"/>
              </a:lnSpc>
              <a:spcBef>
                <a:spcPts val="0"/>
              </a:spcBef>
              <a:spcAft>
                <a:spcPts val="170"/>
              </a:spcAft>
              <a:buNone/>
            </a:pPr>
            <a:r>
              <a:rPr lang="ru-RU" sz="1250" b="0" dirty="0">
                <a:solidFill>
                  <a:srgbClr val="D7E7E9"/>
                </a:solidFill>
                <a:latin typeface="TT Norms Pro Medium" pitchFamily="2" charset="0"/>
                <a:cs typeface="TT Norms Pro Medium" pitchFamily="2" charset="0"/>
              </a:rPr>
              <a:t>•  </a:t>
            </a:r>
            <a:r>
              <a:rPr lang="ru-RU" sz="125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Обновить index.md при новых заметках.</a:t>
            </a:r>
          </a:p>
        </p:txBody>
      </p:sp>
      <p:sp>
        <p:nvSpPr>
          <p:cNvPr id="23" name="col2"/>
          <p:cNvSpPr txBox="1"/>
          <p:nvPr/>
        </p:nvSpPr>
        <p:spPr>
          <a:xfrm>
            <a:off x="6276000" y="2040000"/>
            <a:ext cx="5262854" cy="39000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</p:spPr>
        <p:txBody>
          <a:bodyPr wrap="square" lIns="228600" tIns="205740" rIns="205740" bIns="45720" rtlCol="0" anchor="t"/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60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Коммит и синхронизация</a:t>
            </a:r>
          </a:p>
          <a:p>
            <a:pPr marL="170000" indent="-170000">
              <a:lnSpc>
                <a:spcPct val="106000"/>
              </a:lnSpc>
              <a:spcBef>
                <a:spcPts val="0"/>
              </a:spcBef>
              <a:spcAft>
                <a:spcPts val="170"/>
              </a:spcAft>
              <a:buNone/>
            </a:pPr>
            <a:r>
              <a:rPr lang="ru-RU" sz="125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•  </a:t>
            </a:r>
            <a:r>
              <a:rPr lang="ru-RU" sz="125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Отдельный git-коммит по файлам сессии.</a:t>
            </a:r>
          </a:p>
          <a:p>
            <a:pPr marL="170000" indent="-170000">
              <a:lnSpc>
                <a:spcPct val="106000"/>
              </a:lnSpc>
              <a:spcBef>
                <a:spcPts val="0"/>
              </a:spcBef>
              <a:spcAft>
                <a:spcPts val="170"/>
              </a:spcAft>
              <a:buNone/>
            </a:pPr>
            <a:r>
              <a:rPr lang="ru-RU" sz="125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•  </a:t>
            </a:r>
            <a:r>
              <a:rPr lang="ru-RU" sz="125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Формат: session: ГГГГ-ММ-ДД краткое описание.</a:t>
            </a:r>
          </a:p>
          <a:p>
            <a:pPr marL="170000" indent="-170000">
              <a:lnSpc>
                <a:spcPct val="106000"/>
              </a:lnSpc>
              <a:spcBef>
                <a:spcPts val="0"/>
              </a:spcBef>
              <a:spcAft>
                <a:spcPts val="170"/>
              </a:spcAft>
              <a:buNone/>
            </a:pPr>
            <a:r>
              <a:rPr lang="ru-RU" sz="125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•  </a:t>
            </a:r>
            <a:r>
              <a:rPr lang="ru-RU" sz="125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Обновить граф кода: graphify update .</a:t>
            </a:r>
          </a:p>
          <a:p>
            <a:pPr marL="170000" indent="-170000">
              <a:lnSpc>
                <a:spcPct val="106000"/>
              </a:lnSpc>
              <a:spcBef>
                <a:spcPts val="0"/>
              </a:spcBef>
              <a:spcAft>
                <a:spcPts val="170"/>
              </a:spcAft>
              <a:buNone/>
            </a:pPr>
            <a:r>
              <a:rPr lang="ru-RU" sz="125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•  </a:t>
            </a:r>
            <a:r>
              <a:rPr lang="ru-RU" sz="125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Отправить изменения: git push → GitHub.</a:t>
            </a:r>
          </a:p>
        </p:txBody>
      </p:sp>
      <p:sp>
        <p:nvSpPr>
          <p:cNvPr id="24" name="foot"/>
          <p:cNvSpPr txBox="1"/>
          <p:nvPr/>
        </p:nvSpPr>
        <p:spPr>
          <a:xfrm>
            <a:off x="653146" y="6060000"/>
            <a:ext cx="10885708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Каждая сессия — отдельный коммит; изменения предыдущих сессий не включаются.</a:t>
            </a:r>
          </a:p>
        </p:txBody>
      </p:sp>
    </p:spTree>
    <p:extLst>
      <p:ext uri="{BB962C8B-B14F-4D97-AF65-F5344CB8AC3E}">
        <p14:creationId xmlns:p14="http://schemas.microsoft.com/office/powerpoint/2010/main" val="778782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C6FF4B2-289D-4ABD-B542-5A7E6F52DF3C}"/>
              </a:ext>
            </a:extLst>
          </p:cNvPr>
          <p:cNvSpPr/>
          <p:nvPr/>
        </p:nvSpPr>
        <p:spPr>
          <a:xfrm>
            <a:off x="0" y="0"/>
            <a:ext cx="12192000" cy="1962150"/>
          </a:xfrm>
          <a:prstGeom prst="rect">
            <a:avLst/>
          </a:prstGeom>
          <a:solidFill>
            <a:srgbClr val="7B7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9E3CB-6A63-456D-92AC-4AD3DB32FDA1}"/>
              </a:ext>
            </a:extLst>
          </p:cNvPr>
          <p:cNvSpPr txBox="1"/>
          <p:nvPr/>
        </p:nvSpPr>
        <p:spPr>
          <a:xfrm>
            <a:off x="653146" y="1179122"/>
            <a:ext cx="109062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300" dirty="0">
                <a:solidFill>
                  <a:schemeClr val="bg1"/>
                </a:solidFill>
                <a:latin typeface="TT Norms Pro Medium" panose="02000803030000020004" pitchFamily="2" charset="0"/>
              </a:rPr>
              <a:t>Быстрый старт для новичка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66D300-2F8C-4786-B892-E6179CBB3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20" y="787118"/>
            <a:ext cx="315217" cy="315774"/>
          </a:xfrm>
          <a:prstGeom prst="rect">
            <a:avLst/>
          </a:prstGeom>
        </p:spPr>
      </p:pic>
      <p:sp>
        <p:nvSpPr>
          <p:cNvPr id="301" name="checklist"/>
          <p:cNvSpPr txBox="1"/>
          <p:nvPr/>
        </p:nvSpPr>
        <p:spPr>
          <a:xfrm>
            <a:off x="653145" y="3060000"/>
            <a:ext cx="10885708" cy="3200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rtlCol="0" anchor="t"/>
          <a:lstStyle/>
          <a:p>
            <a:pPr marL="280000" indent="-280000">
              <a:lnSpc>
                <a:spcPct val="108000"/>
              </a:lnSpc>
              <a:spcBef>
                <a:spcPts val="0"/>
              </a:spcBef>
              <a:spcAft>
                <a:spcPts val="280"/>
              </a:spcAft>
              <a:buNone/>
            </a:pPr>
            <a:r>
              <a:rPr lang="ru-RU" sz="145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1.  </a:t>
            </a:r>
            <a:r>
              <a:rPr lang="ru-RU" sz="1450" b="0" dirty="0">
                <a:solidFill>
                  <a:srgbClr val="1D1D1B"/>
                </a:solidFill>
                <a:latin typeface="TT Norms Pro" pitchFamily="2" charset="0"/>
                <a:cs typeface="TT Norms Pro" pitchFamily="2" charset="0"/>
              </a:rPr>
              <a:t>Установите VS Code и расширения, клонируйте репозиторий из GitHub.</a:t>
            </a:r>
          </a:p>
          <a:p>
            <a:pPr marL="280000" indent="-280000">
              <a:lnSpc>
                <a:spcPct val="108000"/>
              </a:lnSpc>
              <a:spcBef>
                <a:spcPts val="0"/>
              </a:spcBef>
              <a:spcAft>
                <a:spcPts val="280"/>
              </a:spcAft>
              <a:buNone/>
            </a:pPr>
            <a:r>
              <a:rPr lang="ru-RU" sz="145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2.  </a:t>
            </a:r>
            <a:r>
              <a:rPr lang="ru-RU" sz="1450" b="0" dirty="0">
                <a:solidFill>
                  <a:srgbClr val="1D1D1B"/>
                </a:solidFill>
                <a:latin typeface="TT Norms Pro" pitchFamily="2" charset="0"/>
                <a:cs typeface="TT Norms Pro" pitchFamily="2" charset="0"/>
              </a:rPr>
              <a:t>Возьмите задание из Карты релизов (статус «Не начато»).</a:t>
            </a:r>
          </a:p>
          <a:p>
            <a:pPr marL="280000" indent="-280000">
              <a:lnSpc>
                <a:spcPct val="108000"/>
              </a:lnSpc>
              <a:spcBef>
                <a:spcPts val="0"/>
              </a:spcBef>
              <a:spcAft>
                <a:spcPts val="280"/>
              </a:spcAft>
              <a:buNone/>
            </a:pPr>
            <a:r>
              <a:rPr lang="ru-RU" sz="145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3.  </a:t>
            </a:r>
            <a:r>
              <a:rPr lang="ru-RU" sz="1450" b="0" dirty="0">
                <a:solidFill>
                  <a:srgbClr val="1D1D1B"/>
                </a:solidFill>
                <a:latin typeface="TT Norms Pro" pitchFamily="2" charset="0"/>
                <a:cs typeface="TT Norms Pro" pitchFamily="2" charset="0"/>
              </a:rPr>
              <a:t>«Синхронизируй gsd»  →  /gsd-plan-phase N  →  /gsd-execute-phase N.</a:t>
            </a:r>
          </a:p>
          <a:p>
            <a:pPr marL="280000" indent="-280000">
              <a:lnSpc>
                <a:spcPct val="108000"/>
              </a:lnSpc>
              <a:spcBef>
                <a:spcPts val="0"/>
              </a:spcBef>
              <a:spcAft>
                <a:spcPts val="280"/>
              </a:spcAft>
              <a:buNone/>
            </a:pPr>
            <a:r>
              <a:rPr lang="ru-RU" sz="145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4.  </a:t>
            </a:r>
            <a:r>
              <a:rPr lang="ru-RU" sz="1450" b="0" dirty="0">
                <a:solidFill>
                  <a:srgbClr val="1D1D1B"/>
                </a:solidFill>
                <a:latin typeface="TT Norms Pro" pitchFamily="2" charset="0"/>
                <a:cs typeface="TT Norms Pro" pitchFamily="2" charset="0"/>
              </a:rPr>
              <a:t>Проверьте результат: /gsd-verify-work N, выставьте статусы.</a:t>
            </a:r>
          </a:p>
          <a:p>
            <a:pPr marL="280000" indent="-280000">
              <a:lnSpc>
                <a:spcPct val="108000"/>
              </a:lnSpc>
              <a:spcBef>
                <a:spcPts val="0"/>
              </a:spcBef>
              <a:spcAft>
                <a:spcPts val="280"/>
              </a:spcAft>
              <a:buNone/>
            </a:pPr>
            <a:r>
              <a:rPr lang="ru-RU" sz="1450" b="0" dirty="0">
                <a:solidFill>
                  <a:srgbClr val="127E8A"/>
                </a:solidFill>
                <a:latin typeface="TT Norms Pro Medium" pitchFamily="2" charset="0"/>
                <a:cs typeface="TT Norms Pro Medium" pitchFamily="2" charset="0"/>
              </a:rPr>
              <a:t>5.  </a:t>
            </a:r>
            <a:r>
              <a:rPr lang="ru-RU" sz="1450" b="0" dirty="0">
                <a:solidFill>
                  <a:srgbClr val="1D1D1B"/>
                </a:solidFill>
                <a:latin typeface="TT Norms Pro" pitchFamily="2" charset="0"/>
                <a:cs typeface="TT Norms Pro" pitchFamily="2" charset="0"/>
              </a:rPr>
              <a:t>Выпуск: /gsd-ship. Затем «</a:t>
            </a:r>
            <a:r>
              <a:rPr lang="en-US" sz="1450" b="0" dirty="0">
                <a:solidFill>
                  <a:srgbClr val="1D1D1B"/>
                </a:solidFill>
                <a:latin typeface="TT Norms Pro" pitchFamily="2" charset="0"/>
                <a:cs typeface="TT Norms Pro" pitchFamily="2" charset="0"/>
              </a:rPr>
              <a:t>/mm-save-session</a:t>
            </a:r>
            <a:r>
              <a:rPr lang="ru-RU" sz="1450" b="0" dirty="0">
                <a:solidFill>
                  <a:srgbClr val="1D1D1B"/>
                </a:solidFill>
                <a:latin typeface="TT Norms Pro" pitchFamily="2" charset="0"/>
                <a:cs typeface="TT Norms Pro" pitchFamily="2" charset="0"/>
              </a:rPr>
              <a:t>» → коммит → git push.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32D3BE2-203E-468F-B4BC-30840D25FD4F}"/>
              </a:ext>
            </a:extLst>
          </p:cNvPr>
          <p:cNvSpPr/>
          <p:nvPr/>
        </p:nvSpPr>
        <p:spPr>
          <a:xfrm>
            <a:off x="0" y="1962150"/>
            <a:ext cx="12192000" cy="787118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B5C06E-A638-40F4-BB5F-98E4508FDFCB}"/>
              </a:ext>
            </a:extLst>
          </p:cNvPr>
          <p:cNvSpPr txBox="1"/>
          <p:nvPr/>
        </p:nvSpPr>
        <p:spPr>
          <a:xfrm>
            <a:off x="653145" y="2148267"/>
            <a:ext cx="1075173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900" dirty="0">
                <a:solidFill>
                  <a:schemeClr val="tx1"/>
                </a:solidFill>
                <a:latin typeface="TT Norms Pro Medium" panose="02000803030000020004" pitchFamily="2" charset="0"/>
              </a:rPr>
              <a:t>Не пишите код с нуля — следуйте общему конвейеру и командам</a:t>
            </a:r>
          </a:p>
        </p:txBody>
      </p:sp>
    </p:spTree>
    <p:extLst>
      <p:ext uri="{BB962C8B-B14F-4D97-AF65-F5344CB8AC3E}">
        <p14:creationId xmlns:p14="http://schemas.microsoft.com/office/powerpoint/2010/main" val="677729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66D300-2F8C-4786-B892-E6179CBB3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20" y="787118"/>
            <a:ext cx="315217" cy="315774"/>
          </a:xfrm>
          <a:prstGeom prst="rect">
            <a:avLst/>
          </a:prstGeom>
        </p:spPr>
      </p:pic>
      <p:sp>
        <p:nvSpPr>
          <p:cNvPr id="21" name="Heading"/>
          <p:cNvSpPr txBox="1"/>
          <p:nvPr/>
        </p:nvSpPr>
        <p:spPr>
          <a:xfrm>
            <a:off x="653146" y="1179122"/>
            <a:ext cx="10885708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Регламент и полезные ссылки</a:t>
            </a:r>
          </a:p>
        </p:txBody>
      </p:sp>
      <p:sp>
        <p:nvSpPr>
          <p:cNvPr id="22" name="lcard"/>
          <p:cNvSpPr txBox="1"/>
          <p:nvPr/>
        </p:nvSpPr>
        <p:spPr>
          <a:xfrm>
            <a:off x="653146" y="2040000"/>
            <a:ext cx="5292854" cy="2110000"/>
          </a:xfrm>
          <a:prstGeom prst="roundRect">
            <a:avLst>
              <a:gd name="adj" fmla="val 6000"/>
            </a:avLst>
          </a:prstGeom>
          <a:solidFill>
            <a:srgbClr val="127E8A"/>
          </a:solidFill>
          <a:ln>
            <a:noFill/>
          </a:ln>
        </p:spPr>
        <p:txBody>
          <a:bodyPr wrap="square" lIns="228600" tIns="182880" rIns="182880" bIns="45720" rtlCol="0" anchor="t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550" b="0" dirty="0">
                <a:solidFill>
                  <a:srgbClr val="FFFFFF"/>
                </a:solidFill>
                <a:latin typeface="TT Norms Pro Medium" pitchFamily="2" charset="0"/>
                <a:cs typeface="TT Norms Pro Medium" pitchFamily="2" charset="0"/>
              </a:rPr>
              <a:t>Полный регламент (Wiki)</a:t>
            </a:r>
          </a:p>
          <a:p>
            <a:pPr marL="0" indent="0">
              <a:spcBef>
                <a:spcPts val="0"/>
              </a:spcBef>
              <a:spcAft>
                <a:spcPts val="220"/>
              </a:spcAft>
              <a:buNone/>
            </a:pPr>
            <a:r>
              <a:rPr lang="ru-RU" sz="1300" b="0" dirty="0">
                <a:solidFill>
                  <a:srgbClr val="FFFFFF"/>
                </a:solidFill>
                <a:latin typeface="Courier New" pitchFamily="2" charset="0"/>
                <a:cs typeface="Courier New" pitchFamily="2" charset="0"/>
              </a:rPr>
              <a:t>wikign.com/x/d5_rCw</a:t>
            </a:r>
          </a:p>
          <a:p>
            <a:pPr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Открывается только с рабочего ПК GenPro.</a:t>
            </a:r>
          </a:p>
        </p:txBody>
      </p:sp>
      <p:sp>
        <p:nvSpPr>
          <p:cNvPr id="24" name="lcard"/>
          <p:cNvSpPr txBox="1"/>
          <p:nvPr/>
        </p:nvSpPr>
        <p:spPr>
          <a:xfrm>
            <a:off x="3449573" y="4450000"/>
            <a:ext cx="5292854" cy="21100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>
            <a:noFill/>
          </a:ln>
        </p:spPr>
        <p:txBody>
          <a:bodyPr wrap="square" lIns="228600" tIns="182880" rIns="182880" bIns="45720" rtlCol="0" anchor="t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550" b="0" dirty="0">
                <a:solidFill>
                  <a:srgbClr val="1D1D1B"/>
                </a:solidFill>
                <a:latin typeface="TT Norms Pro Medium" pitchFamily="2" charset="0"/>
                <a:cs typeface="TT Norms Pro Medium" pitchFamily="2" charset="0"/>
              </a:rPr>
              <a:t>Ключевые разделы</a:t>
            </a:r>
          </a:p>
          <a:p>
            <a:pPr marL="0" indent="0">
              <a:spcBef>
                <a:spcPts val="0"/>
              </a:spcBef>
              <a:spcAft>
                <a:spcPts val="220"/>
              </a:spcAft>
              <a:buNone/>
            </a:pPr>
            <a:r>
              <a:rPr lang="ru-RU" sz="1300" b="0" dirty="0">
                <a:solidFill>
                  <a:srgbClr val="1D1D1B"/>
                </a:solidFill>
                <a:latin typeface="Courier New" pitchFamily="2" charset="0"/>
                <a:cs typeface="Courier New" pitchFamily="2" charset="0"/>
              </a:rPr>
              <a:t>§7 · §8.2.1 · §11</a:t>
            </a:r>
          </a:p>
          <a:p>
            <a:pPr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E6A6B"/>
                </a:solidFill>
                <a:latin typeface="TT Norms Pro" pitchFamily="2" charset="0"/>
                <a:cs typeface="TT Norms Pro" pitchFamily="2" charset="0"/>
              </a:rPr>
              <a:t>Реестр и Карта · поток GSD · панель GENPRO LAB, GSD и база знаний.</a:t>
            </a:r>
          </a:p>
        </p:txBody>
      </p:sp>
      <p:sp>
        <p:nvSpPr>
          <p:cNvPr id="25" name="lcard"/>
          <p:cNvSpPr txBox="1"/>
          <p:nvPr/>
        </p:nvSpPr>
        <p:spPr>
          <a:xfrm>
            <a:off x="6246000" y="2040000"/>
            <a:ext cx="5292854" cy="2110000"/>
          </a:xfrm>
          <a:prstGeom prst="roundRect">
            <a:avLst>
              <a:gd name="adj" fmla="val 6000"/>
            </a:avLst>
          </a:prstGeom>
          <a:solidFill>
            <a:srgbClr val="127E8A"/>
          </a:solidFill>
          <a:ln>
            <a:noFill/>
          </a:ln>
        </p:spPr>
        <p:txBody>
          <a:bodyPr wrap="square" lIns="228600" tIns="182880" rIns="182880" bIns="45720" rtlCol="0" anchor="t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550" b="0" dirty="0">
                <a:solidFill>
                  <a:srgbClr val="FFFFFF"/>
                </a:solidFill>
                <a:latin typeface="TT Norms Pro Medium" pitchFamily="2" charset="0"/>
                <a:cs typeface="TT Norms Pro Medium" pitchFamily="2" charset="0"/>
              </a:rPr>
              <a:t>Сводный Реестр Плагинов</a:t>
            </a:r>
          </a:p>
          <a:p>
            <a:pPr marL="0" indent="0">
              <a:spcBef>
                <a:spcPts val="0"/>
              </a:spcBef>
              <a:spcAft>
                <a:spcPts val="220"/>
              </a:spcAft>
              <a:buNone/>
            </a:pPr>
            <a:r>
              <a:rPr lang="en-US" sz="1300" b="0" dirty="0">
                <a:solidFill>
                  <a:srgbClr val="FFFFFF"/>
                </a:solidFill>
                <a:latin typeface="Courier New" pitchFamily="2" charset="0"/>
                <a:cs typeface="Courier New" pitchFamily="2" charset="0"/>
              </a:rPr>
              <a:t>https://docs.google.com/spreadsheets/d/1HMZ4YVB-eSMmD_6hMD3yHjmaXJFfnZqy2bsx1mR-p_0/edit?gid=788153722#gid=788153722 </a:t>
            </a:r>
          </a:p>
          <a:p>
            <a:pPr marL="0" indent="0">
              <a:spcBef>
                <a:spcPts val="0"/>
              </a:spcBef>
              <a:spcAft>
                <a:spcPts val="220"/>
              </a:spcAft>
              <a:buNone/>
            </a:pPr>
            <a:r>
              <a:rPr lang="ru-RU" sz="1200" b="0" dirty="0">
                <a:solidFill>
                  <a:srgbClr val="D7E7E9"/>
                </a:solidFill>
                <a:latin typeface="TT Norms Pro" pitchFamily="2" charset="0"/>
                <a:cs typeface="TT Norms Pro" pitchFamily="2" charset="0"/>
              </a:rPr>
              <a:t>Реестр инструментов автоматизации и Карта релизов.</a:t>
            </a:r>
          </a:p>
        </p:txBody>
      </p:sp>
    </p:spTree>
    <p:extLst>
      <p:ext uri="{BB962C8B-B14F-4D97-AF65-F5344CB8AC3E}">
        <p14:creationId xmlns:p14="http://schemas.microsoft.com/office/powerpoint/2010/main" val="778782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D963B3-6C0B-47D3-88E9-6589E7FE9B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t="7371" r="1" b="737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5" name="Google Shape;85;p1"/>
          <p:cNvSpPr/>
          <p:nvPr/>
        </p:nvSpPr>
        <p:spPr>
          <a:xfrm rot="-5400000">
            <a:off x="2661628" y="-2661630"/>
            <a:ext cx="6868745" cy="12192001"/>
          </a:xfrm>
          <a:prstGeom prst="rect">
            <a:avLst/>
          </a:prstGeom>
          <a:solidFill>
            <a:schemeClr val="tx1">
              <a:alpha val="79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2E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076493" y="706974"/>
            <a:ext cx="83505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50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i="0" u="none" strike="noStrike" cap="none" dirty="0">
                <a:solidFill>
                  <a:schemeClr val="lt1"/>
                </a:solidFill>
                <a:latin typeface="TT Norms Pro Medium" panose="02000803030000020004" pitchFamily="2" charset="0"/>
                <a:ea typeface="Calibri"/>
                <a:cs typeface="Calibri"/>
                <a:sym typeface="Calibri"/>
              </a:rPr>
              <a:t>СПАСИБО</a:t>
            </a:r>
          </a:p>
          <a:p>
            <a:pPr marL="12700" marR="50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dirty="0">
                <a:solidFill>
                  <a:schemeClr val="lt1"/>
                </a:solidFill>
                <a:latin typeface="TT Norms Pro Medium" panose="02000803030000020004" pitchFamily="2" charset="0"/>
                <a:ea typeface="Calibri"/>
                <a:cs typeface="Calibri"/>
                <a:sym typeface="Calibri"/>
              </a:rPr>
              <a:t>за внимание!</a:t>
            </a:r>
            <a:endParaRPr sz="4000" b="1" i="0" u="none" strike="noStrike" cap="none" dirty="0">
              <a:solidFill>
                <a:schemeClr val="lt1"/>
              </a:solidFill>
              <a:latin typeface="TT Norms Pro Medium" panose="02000803030000020004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9925DBF-3C37-4BF4-BDFE-2FCFB9C8AA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18" y="787118"/>
            <a:ext cx="1945419" cy="39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346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4386</TotalTime>
  <Words>2056</Words>
  <Application>Microsoft Office PowerPoint</Application>
  <PresentationFormat>Широкоэкранный</PresentationFormat>
  <Paragraphs>158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Courier New</vt:lpstr>
      <vt:lpstr>Helvetica Light</vt:lpstr>
      <vt:lpstr>TT Norms Pro</vt:lpstr>
      <vt:lpstr>TT Norms Pro Medium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d.nikulina</dc:creator>
  <cp:lastModifiedBy>Evgenii Ermolenko</cp:lastModifiedBy>
  <cp:revision>90</cp:revision>
  <dcterms:created xsi:type="dcterms:W3CDTF">2023-03-22T08:07:13Z</dcterms:created>
  <dcterms:modified xsi:type="dcterms:W3CDTF">2026-07-24T13:16:10Z</dcterms:modified>
</cp:coreProperties>
</file>